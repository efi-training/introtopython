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20" r:id="rId21"/>
    <p:sldId id="321" r:id="rId22"/>
    <p:sldId id="322" r:id="rId23"/>
    <p:sldId id="277" r:id="rId24"/>
    <p:sldId id="319" r:id="rId25"/>
    <p:sldId id="279" r:id="rId26"/>
    <p:sldId id="318" r:id="rId27"/>
    <p:sldId id="323" r:id="rId28"/>
    <p:sldId id="324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317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5" r:id="rId64"/>
    <p:sldId id="316" r:id="rId6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68"/>
  </p:normalViewPr>
  <p:slideViewPr>
    <p:cSldViewPr snapToGrid="0">
      <p:cViewPr varScale="1">
        <p:scale>
          <a:sx n="59" d="100"/>
          <a:sy n="59" d="100"/>
        </p:scale>
        <p:origin x="4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08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https://www.w3schools.com/python/</a:t>
            </a:r>
            <a:r>
              <a:rPr lang="en-US" dirty="0" err="1"/>
              <a:t>python_operators.asp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775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E4B57E4-41C4-2E59-D000-214E4F77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0416" y="120134"/>
            <a:ext cx="6928705" cy="17321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E8AC0-365C-0B74-0C36-8189C4D376B0}"/>
              </a:ext>
            </a:extLst>
          </p:cNvPr>
          <p:cNvGrpSpPr/>
          <p:nvPr userDrawn="1"/>
        </p:nvGrpSpPr>
        <p:grpSpPr>
          <a:xfrm flipH="1">
            <a:off x="5170902" y="12171374"/>
            <a:ext cx="19483262" cy="1762721"/>
            <a:chOff x="0" y="12381483"/>
            <a:chExt cx="19483262" cy="1423702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0567CD4-8E34-FF0C-A65A-267EF9B466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D4909914-5A0A-D6E8-84B3-CAA53226B0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667BDE9-ECD8-61DE-5479-2B3E3D5CD7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10862" y="12406153"/>
              <a:ext cx="7772400" cy="139903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8DCA3A-B030-9CA1-0C37-3C057A57F1C0}"/>
              </a:ext>
            </a:extLst>
          </p:cNvPr>
          <p:cNvGrpSpPr/>
          <p:nvPr userDrawn="1"/>
        </p:nvGrpSpPr>
        <p:grpSpPr>
          <a:xfrm flipV="1">
            <a:off x="-2001816" y="-156680"/>
            <a:ext cx="19545609" cy="2008990"/>
            <a:chOff x="0" y="12351959"/>
            <a:chExt cx="19545609" cy="142855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65F3EB2-2C64-E529-94C8-57F409C391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A2692AE-5BB3-11E0-CB21-EB797BCE8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C24B781-9AC9-4E77-6290-80870D5F5A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73209" y="12351959"/>
              <a:ext cx="7772400" cy="139903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ssions Throughout  the course">
            <a:extLst>
              <a:ext uri="{FF2B5EF4-FFF2-40B4-BE49-F238E27FC236}">
                <a16:creationId xmlns:a16="http://schemas.microsoft.com/office/drawing/2014/main" id="{3DD2EE4F-7580-1683-B89C-0171A858274C}"/>
              </a:ext>
            </a:extLst>
          </p:cNvPr>
          <p:cNvSpPr txBox="1"/>
          <p:nvPr userDrawn="1"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E5C2D-BCB6-5575-E08E-C615B6B0D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49CE852-4CAB-4844-011F-8894CBBE7E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7641" y="873289"/>
            <a:ext cx="5713725" cy="14284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0D901C3-12E4-7385-39D0-865949AB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1204188"/>
            <a:ext cx="21971000" cy="1433163"/>
          </a:xfrm>
        </p:spPr>
        <p:txBody>
          <a:bodyPr/>
          <a:lstStyle>
            <a:lvl1pPr>
              <a:defRPr kumimoji="0" lang="en-GB" sz="8000" b="1" i="0" u="none" strike="noStrike" cap="none" spc="0" normalizeH="0" baseline="0" smtClean="0">
                <a:ln>
                  <a:noFill/>
                </a:ln>
                <a:solidFill>
                  <a:srgbClr val="0A1C3E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387F5A-544D-69F0-5B42-F124C027D1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737" y="857568"/>
            <a:ext cx="5713725" cy="14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9872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9A4CE46-3989-45D1-69FC-D8C1121FA9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847" y="884491"/>
            <a:ext cx="6733925" cy="168348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6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edin.ac/45BpZF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esentation Subtitle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174" name="Group"/>
          <p:cNvGrpSpPr/>
          <p:nvPr/>
        </p:nvGrpSpPr>
        <p:grpSpPr>
          <a:xfrm>
            <a:off x="-217715" y="-468926"/>
            <a:ext cx="24819429" cy="14653852"/>
            <a:chOff x="0" y="0"/>
            <a:chExt cx="24254275" cy="14240192"/>
          </a:xfrm>
        </p:grpSpPr>
        <p:pic>
          <p:nvPicPr>
            <p:cNvPr id="172" name="Intro to Python.png" descr="Intro to Pytho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8986924" cy="142401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3" name="Intro to Python.png" descr="Intro to Python.png"/>
            <p:cNvPicPr>
              <a:picLocks noChangeAspect="1"/>
            </p:cNvPicPr>
            <p:nvPr/>
          </p:nvPicPr>
          <p:blipFill>
            <a:blip r:embed="rId2"/>
            <a:srcRect l="72077"/>
            <a:stretch>
              <a:fillRect/>
            </a:stretch>
          </p:blipFill>
          <p:spPr>
            <a:xfrm flipH="1">
              <a:off x="18952741" y="0"/>
              <a:ext cx="5301536" cy="142401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75" name="Edinburgh Futures Institute_logo_linear_white.png" descr="Edinburgh Futures Institute_logo_lin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323" y="1754362"/>
            <a:ext cx="7618172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06A058-BFF8-E048-5818-3AD0529D097C}"/>
              </a:ext>
            </a:extLst>
          </p:cNvPr>
          <p:cNvSpPr txBox="1"/>
          <p:nvPr/>
        </p:nvSpPr>
        <p:spPr>
          <a:xfrm>
            <a:off x="719426" y="7673946"/>
            <a:ext cx="22227660" cy="2908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Instructors	Joy Lan · Somya Iqbal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b="1" dirty="0">
                <a:solidFill>
                  <a:schemeClr val="bg1"/>
                </a:solidFill>
              </a:rPr>
              <a:t>Materials		</a:t>
            </a:r>
            <a:r>
              <a:rPr lang="en-GB" sz="4000" dirty="0">
                <a:solidFill>
                  <a:schemeClr val="bg1"/>
                </a:solidFill>
              </a:rPr>
              <a:t>Adapted from materials developed by </a:t>
            </a:r>
            <a:r>
              <a:rPr lang="en-GB" sz="4000" b="1" dirty="0">
                <a:solidFill>
                  <a:schemeClr val="bg1"/>
                </a:solidFill>
              </a:rPr>
              <a:t>Chris </a:t>
            </a:r>
            <a:r>
              <a:rPr lang="en-GB" sz="4000" b="1" dirty="0" err="1">
                <a:solidFill>
                  <a:schemeClr val="bg1"/>
                </a:solidFill>
              </a:rPr>
              <a:t>Oldnall</a:t>
            </a:r>
            <a:endParaRPr lang="en-GB" sz="4000" dirty="0">
              <a:solidFill>
                <a:schemeClr val="bg1"/>
              </a:solidFill>
            </a:endParaRPr>
          </a:p>
          <a:p>
            <a:pPr>
              <a:buNone/>
            </a:pPr>
            <a:endParaRPr lang="en-GB" sz="4000" dirty="0">
              <a:solidFill>
                <a:schemeClr val="bg1"/>
              </a:solidFill>
              <a:latin typeface="IntegralCF-Bold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rrangements for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Arrangements for 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the COURSE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Table 1"/>
          <p:cNvGraphicFramePr/>
          <p:nvPr>
            <p:extLst>
              <p:ext uri="{D42A27DB-BD31-4B8C-83A1-F6EECF244321}">
                <p14:modId xmlns:p14="http://schemas.microsoft.com/office/powerpoint/2010/main" val="3924818039"/>
              </p:ext>
            </p:extLst>
          </p:nvPr>
        </p:nvGraphicFramePr>
        <p:xfrm>
          <a:off x="1339901" y="1276350"/>
          <a:ext cx="21704194" cy="111633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55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3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11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Time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1 </a:t>
                      </a:r>
                      <a:endParaRPr lang="en-GB" sz="4000" b="1" dirty="0">
                        <a:solidFill>
                          <a:srgbClr val="0A1C3E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25th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September (Fri)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2
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2nd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October (Fri)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3
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</a:t>
                      </a:r>
                      <a:r>
                        <a:rPr sz="4000" b="1" dirty="0" err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th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October (Fri)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Topic 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Introduction to </a:t>
                      </a:r>
                      <a:r>
                        <a:rPr sz="4000" dirty="0" err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Noteable</a:t>
                      </a:r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and Python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 rowSpan="2"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Functions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Collections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1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Topic B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Conditions and Logic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List Comprehensions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ircle"/>
          <p:cNvSpPr/>
          <p:nvPr/>
        </p:nvSpPr>
        <p:spPr>
          <a:xfrm>
            <a:off x="7426947" y="3481935"/>
            <a:ext cx="9530105" cy="9530105"/>
          </a:xfrm>
          <a:prstGeom prst="ellipse">
            <a:avLst/>
          </a:prstGeom>
          <a:solidFill>
            <a:srgbClr val="0A1C3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6" name="Sessions Throughout  the course"/>
          <p:cNvSpPr txBox="1"/>
          <p:nvPr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187" name="Line"/>
          <p:cNvSpPr/>
          <p:nvPr/>
        </p:nvSpPr>
        <p:spPr>
          <a:xfrm flipH="1" flipV="1">
            <a:off x="10114048" y="3986555"/>
            <a:ext cx="4155904" cy="8520865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190" name="Group"/>
          <p:cNvGrpSpPr/>
          <p:nvPr/>
        </p:nvGrpSpPr>
        <p:grpSpPr>
          <a:xfrm>
            <a:off x="12662162" y="4681884"/>
            <a:ext cx="2316841" cy="1479262"/>
            <a:chOff x="0" y="0"/>
            <a:chExt cx="2316839" cy="1479260"/>
          </a:xfrm>
        </p:grpSpPr>
        <p:sp>
          <p:nvSpPr>
            <p:cNvPr id="188" name="Children At Play"/>
            <p:cNvSpPr/>
            <p:nvPr/>
          </p:nvSpPr>
          <p:spPr>
            <a:xfrm>
              <a:off x="1375777" y="0"/>
              <a:ext cx="941063" cy="1479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20" y="0"/>
                  </a:moveTo>
                  <a:cubicBezTo>
                    <a:pt x="7631" y="0"/>
                    <a:pt x="6841" y="201"/>
                    <a:pt x="6239" y="602"/>
                  </a:cubicBezTo>
                  <a:cubicBezTo>
                    <a:pt x="5035" y="1404"/>
                    <a:pt x="5035" y="2704"/>
                    <a:pt x="6239" y="3506"/>
                  </a:cubicBezTo>
                  <a:cubicBezTo>
                    <a:pt x="7443" y="4308"/>
                    <a:pt x="9395" y="4308"/>
                    <a:pt x="10599" y="3506"/>
                  </a:cubicBezTo>
                  <a:cubicBezTo>
                    <a:pt x="11803" y="2704"/>
                    <a:pt x="11803" y="1404"/>
                    <a:pt x="10599" y="602"/>
                  </a:cubicBezTo>
                  <a:cubicBezTo>
                    <a:pt x="9997" y="201"/>
                    <a:pt x="9209" y="0"/>
                    <a:pt x="8420" y="0"/>
                  </a:cubicBezTo>
                  <a:close/>
                  <a:moveTo>
                    <a:pt x="12041" y="4278"/>
                  </a:moveTo>
                  <a:cubicBezTo>
                    <a:pt x="10063" y="4274"/>
                    <a:pt x="8150" y="4994"/>
                    <a:pt x="7287" y="6242"/>
                  </a:cubicBezTo>
                  <a:lnTo>
                    <a:pt x="5170" y="9302"/>
                  </a:lnTo>
                  <a:lnTo>
                    <a:pt x="1323" y="8418"/>
                  </a:lnTo>
                  <a:lnTo>
                    <a:pt x="0" y="10055"/>
                  </a:lnTo>
                  <a:lnTo>
                    <a:pt x="6748" y="11699"/>
                  </a:lnTo>
                  <a:lnTo>
                    <a:pt x="8591" y="9187"/>
                  </a:lnTo>
                  <a:cubicBezTo>
                    <a:pt x="8591" y="9187"/>
                    <a:pt x="9405" y="11497"/>
                    <a:pt x="9857" y="12425"/>
                  </a:cubicBezTo>
                  <a:lnTo>
                    <a:pt x="5186" y="16053"/>
                  </a:lnTo>
                  <a:lnTo>
                    <a:pt x="3493" y="21329"/>
                  </a:lnTo>
                  <a:lnTo>
                    <a:pt x="6397" y="21600"/>
                  </a:lnTo>
                  <a:lnTo>
                    <a:pt x="7916" y="17838"/>
                  </a:lnTo>
                  <a:lnTo>
                    <a:pt x="11409" y="15999"/>
                  </a:lnTo>
                  <a:lnTo>
                    <a:pt x="12396" y="19183"/>
                  </a:lnTo>
                  <a:lnTo>
                    <a:pt x="20931" y="18915"/>
                  </a:lnTo>
                  <a:lnTo>
                    <a:pt x="20496" y="17052"/>
                  </a:lnTo>
                  <a:lnTo>
                    <a:pt x="15481" y="17163"/>
                  </a:lnTo>
                  <a:lnTo>
                    <a:pt x="16531" y="12011"/>
                  </a:lnTo>
                  <a:cubicBezTo>
                    <a:pt x="15796" y="10178"/>
                    <a:pt x="14766" y="7569"/>
                    <a:pt x="14766" y="7569"/>
                  </a:cubicBezTo>
                  <a:lnTo>
                    <a:pt x="17153" y="8300"/>
                  </a:lnTo>
                  <a:lnTo>
                    <a:pt x="19102" y="10454"/>
                  </a:lnTo>
                  <a:lnTo>
                    <a:pt x="21600" y="9474"/>
                  </a:lnTo>
                  <a:lnTo>
                    <a:pt x="19112" y="6451"/>
                  </a:lnTo>
                  <a:lnTo>
                    <a:pt x="14686" y="4751"/>
                  </a:lnTo>
                  <a:cubicBezTo>
                    <a:pt x="13852" y="4431"/>
                    <a:pt x="12940" y="4280"/>
                    <a:pt x="12041" y="4278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9" name="Television"/>
            <p:cNvSpPr/>
            <p:nvPr/>
          </p:nvSpPr>
          <p:spPr>
            <a:xfrm>
              <a:off x="0" y="0"/>
              <a:ext cx="1490292" cy="908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675" y="1107"/>
                  </a:moveTo>
                  <a:lnTo>
                    <a:pt x="20920" y="1107"/>
                  </a:lnTo>
                  <a:lnTo>
                    <a:pt x="20920" y="19403"/>
                  </a:lnTo>
                  <a:lnTo>
                    <a:pt x="675" y="19403"/>
                  </a:lnTo>
                  <a:lnTo>
                    <a:pt x="675" y="1107"/>
                  </a:lnTo>
                  <a:close/>
                  <a:moveTo>
                    <a:pt x="945" y="1558"/>
                  </a:moveTo>
                  <a:lnTo>
                    <a:pt x="945" y="18952"/>
                  </a:lnTo>
                  <a:lnTo>
                    <a:pt x="20645" y="18952"/>
                  </a:lnTo>
                  <a:lnTo>
                    <a:pt x="20645" y="1558"/>
                  </a:lnTo>
                  <a:lnTo>
                    <a:pt x="945" y="1558"/>
                  </a:lnTo>
                  <a:close/>
                  <a:moveTo>
                    <a:pt x="19683" y="20211"/>
                  </a:moveTo>
                  <a:cubicBezTo>
                    <a:pt x="19791" y="20211"/>
                    <a:pt x="19877" y="20352"/>
                    <a:pt x="19877" y="20529"/>
                  </a:cubicBezTo>
                  <a:cubicBezTo>
                    <a:pt x="19877" y="20706"/>
                    <a:pt x="19791" y="20847"/>
                    <a:pt x="19683" y="20847"/>
                  </a:cubicBezTo>
                  <a:cubicBezTo>
                    <a:pt x="19575" y="20847"/>
                    <a:pt x="19489" y="20706"/>
                    <a:pt x="19489" y="20529"/>
                  </a:cubicBezTo>
                  <a:cubicBezTo>
                    <a:pt x="19489" y="20352"/>
                    <a:pt x="19575" y="20211"/>
                    <a:pt x="19683" y="20211"/>
                  </a:cubicBezTo>
                  <a:close/>
                  <a:moveTo>
                    <a:pt x="20412" y="20211"/>
                  </a:moveTo>
                  <a:cubicBezTo>
                    <a:pt x="20520" y="20211"/>
                    <a:pt x="20606" y="20352"/>
                    <a:pt x="20606" y="20529"/>
                  </a:cubicBezTo>
                  <a:cubicBezTo>
                    <a:pt x="20606" y="20706"/>
                    <a:pt x="20520" y="20847"/>
                    <a:pt x="20412" y="20847"/>
                  </a:cubicBezTo>
                  <a:cubicBezTo>
                    <a:pt x="20304" y="20847"/>
                    <a:pt x="20218" y="20706"/>
                    <a:pt x="20218" y="20529"/>
                  </a:cubicBezTo>
                  <a:cubicBezTo>
                    <a:pt x="20218" y="20352"/>
                    <a:pt x="20304" y="20211"/>
                    <a:pt x="20412" y="20211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91" name="Presentation of Topic A…"/>
          <p:cNvSpPr txBox="1"/>
          <p:nvPr/>
        </p:nvSpPr>
        <p:spPr>
          <a:xfrm>
            <a:off x="16249197" y="3297474"/>
            <a:ext cx="6598556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Presentation of Topic A</a:t>
            </a:r>
            <a:endParaRPr lang="en-GB" dirty="0"/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(10-15 minutes)</a:t>
            </a:r>
          </a:p>
        </p:txBody>
      </p:sp>
      <p:sp>
        <p:nvSpPr>
          <p:cNvPr id="192" name="Line"/>
          <p:cNvSpPr/>
          <p:nvPr/>
        </p:nvSpPr>
        <p:spPr>
          <a:xfrm flipV="1">
            <a:off x="11960460" y="5748838"/>
            <a:ext cx="4272406" cy="2418754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199" name="Group"/>
          <p:cNvGrpSpPr/>
          <p:nvPr/>
        </p:nvGrpSpPr>
        <p:grpSpPr>
          <a:xfrm>
            <a:off x="13318413" y="8410861"/>
            <a:ext cx="2889753" cy="2099890"/>
            <a:chOff x="0" y="0"/>
            <a:chExt cx="2889752" cy="2099889"/>
          </a:xfrm>
        </p:grpSpPr>
        <p:grpSp>
          <p:nvGrpSpPr>
            <p:cNvPr id="195" name="Group"/>
            <p:cNvGrpSpPr/>
            <p:nvPr/>
          </p:nvGrpSpPr>
          <p:grpSpPr>
            <a:xfrm>
              <a:off x="1677184" y="710326"/>
              <a:ext cx="1212569" cy="679237"/>
              <a:chOff x="0" y="0"/>
              <a:chExt cx="1212567" cy="679235"/>
            </a:xfrm>
          </p:grpSpPr>
          <p:sp>
            <p:nvSpPr>
              <p:cNvPr id="193" name="Notebook"/>
              <p:cNvSpPr/>
              <p:nvPr/>
            </p:nvSpPr>
            <p:spPr>
              <a:xfrm>
                <a:off x="0" y="0"/>
                <a:ext cx="1212568" cy="67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4" name="Snake"/>
              <p:cNvSpPr/>
              <p:nvPr/>
            </p:nvSpPr>
            <p:spPr>
              <a:xfrm>
                <a:off x="303359" y="108886"/>
                <a:ext cx="667114" cy="4614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98" name="Group"/>
            <p:cNvGrpSpPr/>
            <p:nvPr/>
          </p:nvGrpSpPr>
          <p:grpSpPr>
            <a:xfrm>
              <a:off x="-1" y="-1"/>
              <a:ext cx="1433032" cy="2099891"/>
              <a:chOff x="0" y="0"/>
              <a:chExt cx="1433030" cy="2099889"/>
            </a:xfrm>
          </p:grpSpPr>
          <p:sp>
            <p:nvSpPr>
              <p:cNvPr id="196" name="Scuba Diving"/>
              <p:cNvSpPr/>
              <p:nvPr/>
            </p:nvSpPr>
            <p:spPr>
              <a:xfrm>
                <a:off x="167253" y="0"/>
                <a:ext cx="1098524" cy="92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7" name="Scuba Diving"/>
              <p:cNvSpPr/>
              <p:nvPr/>
            </p:nvSpPr>
            <p:spPr>
              <a:xfrm rot="19500000">
                <a:off x="167253" y="939341"/>
                <a:ext cx="1098524" cy="9295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00" name="Paired Programming Practice A…"/>
          <p:cNvSpPr txBox="1"/>
          <p:nvPr/>
        </p:nvSpPr>
        <p:spPr>
          <a:xfrm>
            <a:off x="17271079" y="6359827"/>
            <a:ext cx="6024095" cy="264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Paired Programming </a:t>
            </a:r>
            <a:endParaRPr lang="en-GB" dirty="0"/>
          </a:p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Practice A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(35-40 minutes)</a:t>
            </a:r>
          </a:p>
        </p:txBody>
      </p:sp>
      <p:sp>
        <p:nvSpPr>
          <p:cNvPr id="201" name="Chequered Flag"/>
          <p:cNvSpPr/>
          <p:nvPr/>
        </p:nvSpPr>
        <p:spPr>
          <a:xfrm>
            <a:off x="11045482" y="3800277"/>
            <a:ext cx="919914" cy="14866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887" y="21600"/>
                </a:lnTo>
                <a:lnTo>
                  <a:pt x="1887" y="11088"/>
                </a:lnTo>
                <a:lnTo>
                  <a:pt x="21600" y="11088"/>
                </a:lnTo>
                <a:lnTo>
                  <a:pt x="21600" y="706"/>
                </a:lnTo>
                <a:lnTo>
                  <a:pt x="1887" y="706"/>
                </a:lnTo>
                <a:lnTo>
                  <a:pt x="1887" y="0"/>
                </a:lnTo>
                <a:lnTo>
                  <a:pt x="0" y="0"/>
                </a:lnTo>
                <a:close/>
                <a:moveTo>
                  <a:pt x="5661" y="1225"/>
                </a:moveTo>
                <a:lnTo>
                  <a:pt x="9437" y="1225"/>
                </a:lnTo>
                <a:lnTo>
                  <a:pt x="9437" y="3560"/>
                </a:lnTo>
                <a:lnTo>
                  <a:pt x="13211" y="3560"/>
                </a:lnTo>
                <a:lnTo>
                  <a:pt x="13211" y="1225"/>
                </a:lnTo>
                <a:lnTo>
                  <a:pt x="16985" y="1225"/>
                </a:lnTo>
                <a:lnTo>
                  <a:pt x="16985" y="3560"/>
                </a:lnTo>
                <a:lnTo>
                  <a:pt x="20762" y="3560"/>
                </a:lnTo>
                <a:lnTo>
                  <a:pt x="20762" y="5897"/>
                </a:lnTo>
                <a:lnTo>
                  <a:pt x="16985" y="5897"/>
                </a:lnTo>
                <a:lnTo>
                  <a:pt x="16985" y="8232"/>
                </a:lnTo>
                <a:lnTo>
                  <a:pt x="20762" y="8232"/>
                </a:lnTo>
                <a:lnTo>
                  <a:pt x="20762" y="10568"/>
                </a:lnTo>
                <a:lnTo>
                  <a:pt x="16985" y="10568"/>
                </a:lnTo>
                <a:lnTo>
                  <a:pt x="16985" y="8232"/>
                </a:lnTo>
                <a:lnTo>
                  <a:pt x="13211" y="8232"/>
                </a:lnTo>
                <a:lnTo>
                  <a:pt x="13211" y="10568"/>
                </a:lnTo>
                <a:lnTo>
                  <a:pt x="9437" y="10568"/>
                </a:lnTo>
                <a:lnTo>
                  <a:pt x="9437" y="8232"/>
                </a:lnTo>
                <a:lnTo>
                  <a:pt x="5661" y="8232"/>
                </a:lnTo>
                <a:lnTo>
                  <a:pt x="5661" y="10568"/>
                </a:lnTo>
                <a:lnTo>
                  <a:pt x="1887" y="10568"/>
                </a:lnTo>
                <a:lnTo>
                  <a:pt x="1887" y="8232"/>
                </a:lnTo>
                <a:lnTo>
                  <a:pt x="5661" y="8232"/>
                </a:lnTo>
                <a:lnTo>
                  <a:pt x="5661" y="5897"/>
                </a:lnTo>
                <a:lnTo>
                  <a:pt x="1887" y="5897"/>
                </a:lnTo>
                <a:lnTo>
                  <a:pt x="1887" y="3560"/>
                </a:lnTo>
                <a:lnTo>
                  <a:pt x="5661" y="3560"/>
                </a:lnTo>
                <a:lnTo>
                  <a:pt x="5661" y="1225"/>
                </a:lnTo>
                <a:close/>
                <a:moveTo>
                  <a:pt x="5661" y="3560"/>
                </a:moveTo>
                <a:lnTo>
                  <a:pt x="5661" y="5897"/>
                </a:lnTo>
                <a:lnTo>
                  <a:pt x="9437" y="5897"/>
                </a:lnTo>
                <a:lnTo>
                  <a:pt x="9437" y="3560"/>
                </a:lnTo>
                <a:lnTo>
                  <a:pt x="5661" y="3560"/>
                </a:lnTo>
                <a:close/>
                <a:moveTo>
                  <a:pt x="9437" y="5897"/>
                </a:moveTo>
                <a:lnTo>
                  <a:pt x="9437" y="8232"/>
                </a:lnTo>
                <a:lnTo>
                  <a:pt x="13211" y="8232"/>
                </a:lnTo>
                <a:lnTo>
                  <a:pt x="13211" y="5897"/>
                </a:lnTo>
                <a:lnTo>
                  <a:pt x="9437" y="5897"/>
                </a:lnTo>
                <a:close/>
                <a:moveTo>
                  <a:pt x="13211" y="5897"/>
                </a:moveTo>
                <a:lnTo>
                  <a:pt x="16985" y="5897"/>
                </a:lnTo>
                <a:lnTo>
                  <a:pt x="16985" y="3560"/>
                </a:lnTo>
                <a:lnTo>
                  <a:pt x="13211" y="3560"/>
                </a:lnTo>
                <a:lnTo>
                  <a:pt x="13211" y="5897"/>
                </a:lnTo>
                <a:close/>
              </a:path>
            </a:pathLst>
          </a:custGeom>
          <a:solidFill>
            <a:srgbClr val="5DCB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2" name="Trophy"/>
          <p:cNvSpPr/>
          <p:nvPr/>
        </p:nvSpPr>
        <p:spPr>
          <a:xfrm>
            <a:off x="11156770" y="4884611"/>
            <a:ext cx="697339" cy="842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139" y="0"/>
                </a:moveTo>
                <a:cubicBezTo>
                  <a:pt x="4139" y="0"/>
                  <a:pt x="4149" y="623"/>
                  <a:pt x="4237" y="1589"/>
                </a:cubicBezTo>
                <a:cubicBezTo>
                  <a:pt x="2431" y="832"/>
                  <a:pt x="0" y="1725"/>
                  <a:pt x="0" y="3889"/>
                </a:cubicBezTo>
                <a:cubicBezTo>
                  <a:pt x="0" y="6026"/>
                  <a:pt x="2630" y="7372"/>
                  <a:pt x="4623" y="8623"/>
                </a:cubicBezTo>
                <a:cubicBezTo>
                  <a:pt x="6617" y="9874"/>
                  <a:pt x="5496" y="11300"/>
                  <a:pt x="5496" y="11300"/>
                </a:cubicBezTo>
                <a:cubicBezTo>
                  <a:pt x="5496" y="11300"/>
                  <a:pt x="5764" y="11446"/>
                  <a:pt x="6151" y="11655"/>
                </a:cubicBezTo>
                <a:cubicBezTo>
                  <a:pt x="6151" y="11655"/>
                  <a:pt x="6687" y="11060"/>
                  <a:pt x="6687" y="10290"/>
                </a:cubicBezTo>
                <a:cubicBezTo>
                  <a:pt x="6687" y="10138"/>
                  <a:pt x="6674" y="9995"/>
                  <a:pt x="6650" y="9857"/>
                </a:cubicBezTo>
                <a:cubicBezTo>
                  <a:pt x="7364" y="10917"/>
                  <a:pt x="8282" y="11742"/>
                  <a:pt x="9461" y="12100"/>
                </a:cubicBezTo>
                <a:lnTo>
                  <a:pt x="9461" y="14760"/>
                </a:lnTo>
                <a:lnTo>
                  <a:pt x="7250" y="14760"/>
                </a:lnTo>
                <a:lnTo>
                  <a:pt x="7250" y="18727"/>
                </a:lnTo>
                <a:lnTo>
                  <a:pt x="5761" y="18727"/>
                </a:lnTo>
                <a:lnTo>
                  <a:pt x="4147" y="20386"/>
                </a:lnTo>
                <a:lnTo>
                  <a:pt x="4127" y="20386"/>
                </a:lnTo>
                <a:lnTo>
                  <a:pt x="4127" y="21600"/>
                </a:lnTo>
                <a:lnTo>
                  <a:pt x="17475" y="21600"/>
                </a:lnTo>
                <a:lnTo>
                  <a:pt x="17475" y="20386"/>
                </a:lnTo>
                <a:lnTo>
                  <a:pt x="17455" y="20386"/>
                </a:lnTo>
                <a:lnTo>
                  <a:pt x="15839" y="18727"/>
                </a:lnTo>
                <a:lnTo>
                  <a:pt x="14352" y="18727"/>
                </a:lnTo>
                <a:lnTo>
                  <a:pt x="14352" y="14760"/>
                </a:lnTo>
                <a:lnTo>
                  <a:pt x="12141" y="14760"/>
                </a:lnTo>
                <a:lnTo>
                  <a:pt x="12141" y="12100"/>
                </a:lnTo>
                <a:cubicBezTo>
                  <a:pt x="13320" y="11742"/>
                  <a:pt x="14238" y="10917"/>
                  <a:pt x="14952" y="9857"/>
                </a:cubicBezTo>
                <a:cubicBezTo>
                  <a:pt x="14928" y="9994"/>
                  <a:pt x="14916" y="10138"/>
                  <a:pt x="14916" y="10290"/>
                </a:cubicBezTo>
                <a:cubicBezTo>
                  <a:pt x="14916" y="11060"/>
                  <a:pt x="15449" y="11655"/>
                  <a:pt x="15449" y="11655"/>
                </a:cubicBezTo>
                <a:cubicBezTo>
                  <a:pt x="15836" y="11446"/>
                  <a:pt x="16107" y="11300"/>
                  <a:pt x="16107" y="11300"/>
                </a:cubicBezTo>
                <a:cubicBezTo>
                  <a:pt x="16107" y="11300"/>
                  <a:pt x="14985" y="9874"/>
                  <a:pt x="16979" y="8623"/>
                </a:cubicBezTo>
                <a:cubicBezTo>
                  <a:pt x="18972" y="7372"/>
                  <a:pt x="21600" y="6026"/>
                  <a:pt x="21600" y="3889"/>
                </a:cubicBezTo>
                <a:cubicBezTo>
                  <a:pt x="21600" y="1725"/>
                  <a:pt x="19172" y="832"/>
                  <a:pt x="17365" y="1589"/>
                </a:cubicBezTo>
                <a:cubicBezTo>
                  <a:pt x="17453" y="623"/>
                  <a:pt x="17461" y="0"/>
                  <a:pt x="17461" y="0"/>
                </a:cubicBezTo>
                <a:lnTo>
                  <a:pt x="4139" y="0"/>
                </a:lnTo>
                <a:close/>
                <a:moveTo>
                  <a:pt x="2780" y="2437"/>
                </a:moveTo>
                <a:cubicBezTo>
                  <a:pt x="3886" y="2437"/>
                  <a:pt x="4325" y="3145"/>
                  <a:pt x="4499" y="3649"/>
                </a:cubicBezTo>
                <a:cubicBezTo>
                  <a:pt x="4748" y="5174"/>
                  <a:pt x="5172" y="6946"/>
                  <a:pt x="5886" y="8488"/>
                </a:cubicBezTo>
                <a:cubicBezTo>
                  <a:pt x="5216" y="7814"/>
                  <a:pt x="4193" y="7247"/>
                  <a:pt x="3073" y="6490"/>
                </a:cubicBezTo>
                <a:cubicBezTo>
                  <a:pt x="229" y="4570"/>
                  <a:pt x="1195" y="2437"/>
                  <a:pt x="2780" y="2437"/>
                </a:cubicBezTo>
                <a:close/>
                <a:moveTo>
                  <a:pt x="18822" y="2437"/>
                </a:moveTo>
                <a:cubicBezTo>
                  <a:pt x="20407" y="2437"/>
                  <a:pt x="21373" y="4570"/>
                  <a:pt x="18529" y="6490"/>
                </a:cubicBezTo>
                <a:cubicBezTo>
                  <a:pt x="17409" y="7247"/>
                  <a:pt x="16386" y="7814"/>
                  <a:pt x="15716" y="8488"/>
                </a:cubicBezTo>
                <a:cubicBezTo>
                  <a:pt x="16430" y="6947"/>
                  <a:pt x="16852" y="5174"/>
                  <a:pt x="17101" y="3649"/>
                </a:cubicBezTo>
                <a:cubicBezTo>
                  <a:pt x="17275" y="3145"/>
                  <a:pt x="17716" y="2437"/>
                  <a:pt x="18822" y="2437"/>
                </a:cubicBezTo>
                <a:close/>
              </a:path>
            </a:pathLst>
          </a:custGeom>
          <a:solidFill>
            <a:srgbClr val="5DCB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3" name="Mini-Break…"/>
          <p:cNvSpPr txBox="1"/>
          <p:nvPr/>
        </p:nvSpPr>
        <p:spPr>
          <a:xfrm>
            <a:off x="17533484" y="11042331"/>
            <a:ext cx="3854538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t>Mini-Break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(10 minutes)</a:t>
            </a:r>
          </a:p>
        </p:txBody>
      </p:sp>
      <p:sp>
        <p:nvSpPr>
          <p:cNvPr id="204" name="Power"/>
          <p:cNvSpPr/>
          <p:nvPr/>
        </p:nvSpPr>
        <p:spPr>
          <a:xfrm>
            <a:off x="12539750" y="11391090"/>
            <a:ext cx="1075055" cy="1118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600" extrusionOk="0">
                <a:moveTo>
                  <a:pt x="10797" y="0"/>
                </a:moveTo>
                <a:cubicBezTo>
                  <a:pt x="9878" y="0"/>
                  <a:pt x="9133" y="716"/>
                  <a:pt x="9133" y="1600"/>
                </a:cubicBezTo>
                <a:lnTo>
                  <a:pt x="9133" y="10222"/>
                </a:lnTo>
                <a:cubicBezTo>
                  <a:pt x="9133" y="11106"/>
                  <a:pt x="9878" y="11822"/>
                  <a:pt x="10797" y="11822"/>
                </a:cubicBezTo>
                <a:cubicBezTo>
                  <a:pt x="11717" y="11822"/>
                  <a:pt x="12461" y="11106"/>
                  <a:pt x="12461" y="10222"/>
                </a:cubicBezTo>
                <a:lnTo>
                  <a:pt x="12461" y="1600"/>
                </a:lnTo>
                <a:cubicBezTo>
                  <a:pt x="12461" y="716"/>
                  <a:pt x="11717" y="0"/>
                  <a:pt x="10797" y="0"/>
                </a:cubicBezTo>
                <a:close/>
                <a:moveTo>
                  <a:pt x="4155" y="3552"/>
                </a:moveTo>
                <a:cubicBezTo>
                  <a:pt x="3730" y="3561"/>
                  <a:pt x="3308" y="3725"/>
                  <a:pt x="2990" y="4045"/>
                </a:cubicBezTo>
                <a:cubicBezTo>
                  <a:pt x="1061" y="5987"/>
                  <a:pt x="0" y="8536"/>
                  <a:pt x="0" y="11220"/>
                </a:cubicBezTo>
                <a:cubicBezTo>
                  <a:pt x="0" y="16941"/>
                  <a:pt x="4840" y="21600"/>
                  <a:pt x="10797" y="21600"/>
                </a:cubicBezTo>
                <a:cubicBezTo>
                  <a:pt x="16754" y="21600"/>
                  <a:pt x="21600" y="16941"/>
                  <a:pt x="21594" y="11220"/>
                </a:cubicBezTo>
                <a:cubicBezTo>
                  <a:pt x="21594" y="8536"/>
                  <a:pt x="20534" y="5987"/>
                  <a:pt x="18605" y="4045"/>
                </a:cubicBezTo>
                <a:cubicBezTo>
                  <a:pt x="17973" y="3411"/>
                  <a:pt x="16917" y="3383"/>
                  <a:pt x="16251" y="3996"/>
                </a:cubicBezTo>
                <a:cubicBezTo>
                  <a:pt x="15591" y="4603"/>
                  <a:pt x="15565" y="5618"/>
                  <a:pt x="16202" y="6258"/>
                </a:cubicBezTo>
                <a:cubicBezTo>
                  <a:pt x="17539" y="7603"/>
                  <a:pt x="18271" y="9360"/>
                  <a:pt x="18271" y="11220"/>
                </a:cubicBezTo>
                <a:cubicBezTo>
                  <a:pt x="18271" y="15179"/>
                  <a:pt x="14910" y="18401"/>
                  <a:pt x="10792" y="18401"/>
                </a:cubicBezTo>
                <a:cubicBezTo>
                  <a:pt x="6674" y="18401"/>
                  <a:pt x="3323" y="15179"/>
                  <a:pt x="3323" y="11220"/>
                </a:cubicBezTo>
                <a:cubicBezTo>
                  <a:pt x="3323" y="9360"/>
                  <a:pt x="4056" y="7598"/>
                  <a:pt x="5392" y="6258"/>
                </a:cubicBezTo>
                <a:cubicBezTo>
                  <a:pt x="6030" y="5618"/>
                  <a:pt x="6009" y="4609"/>
                  <a:pt x="5343" y="3996"/>
                </a:cubicBezTo>
                <a:cubicBezTo>
                  <a:pt x="5010" y="3690"/>
                  <a:pt x="4580" y="3543"/>
                  <a:pt x="4155" y="3552"/>
                </a:cubicBezTo>
                <a:close/>
              </a:path>
            </a:pathLst>
          </a:custGeom>
          <a:solidFill>
            <a:srgbClr val="5DCBC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5" name="Line"/>
          <p:cNvSpPr/>
          <p:nvPr/>
        </p:nvSpPr>
        <p:spPr>
          <a:xfrm flipV="1">
            <a:off x="12192000" y="3506823"/>
            <a:ext cx="0" cy="9480331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6" name="Line"/>
          <p:cNvSpPr/>
          <p:nvPr/>
        </p:nvSpPr>
        <p:spPr>
          <a:xfrm flipV="1">
            <a:off x="8239732" y="8461369"/>
            <a:ext cx="4272406" cy="2418754"/>
          </a:xfrm>
          <a:prstGeom prst="line">
            <a:avLst/>
          </a:prstGeom>
          <a:ln w="127000">
            <a:solidFill>
              <a:srgbClr val="D4335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aphicFrame>
        <p:nvGraphicFramePr>
          <p:cNvPr id="207" name="Table 1"/>
          <p:cNvGraphicFramePr/>
          <p:nvPr>
            <p:extLst>
              <p:ext uri="{D42A27DB-BD31-4B8C-83A1-F6EECF244321}">
                <p14:modId xmlns:p14="http://schemas.microsoft.com/office/powerpoint/2010/main" val="1535311403"/>
              </p:ext>
            </p:extLst>
          </p:nvPr>
        </p:nvGraphicFramePr>
        <p:xfrm>
          <a:off x="10388337" y="7694046"/>
          <a:ext cx="3607324" cy="110588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607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5882">
                <a:tc>
                  <a:txBody>
                    <a:bodyPr/>
                    <a:lstStyle/>
                    <a:p>
                      <a:pPr defTabSz="914400"/>
                      <a:r>
                        <a:rPr sz="2700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2hr Sessions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0" name="Group"/>
          <p:cNvGrpSpPr/>
          <p:nvPr/>
        </p:nvGrpSpPr>
        <p:grpSpPr>
          <a:xfrm>
            <a:off x="9404997" y="10766464"/>
            <a:ext cx="2316840" cy="1479262"/>
            <a:chOff x="0" y="0"/>
            <a:chExt cx="2316839" cy="1479260"/>
          </a:xfrm>
        </p:grpSpPr>
        <p:sp>
          <p:nvSpPr>
            <p:cNvPr id="208" name="Children At Play"/>
            <p:cNvSpPr/>
            <p:nvPr/>
          </p:nvSpPr>
          <p:spPr>
            <a:xfrm>
              <a:off x="1375777" y="0"/>
              <a:ext cx="941063" cy="1479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20" y="0"/>
                  </a:moveTo>
                  <a:cubicBezTo>
                    <a:pt x="7631" y="0"/>
                    <a:pt x="6841" y="201"/>
                    <a:pt x="6239" y="602"/>
                  </a:cubicBezTo>
                  <a:cubicBezTo>
                    <a:pt x="5035" y="1404"/>
                    <a:pt x="5035" y="2704"/>
                    <a:pt x="6239" y="3506"/>
                  </a:cubicBezTo>
                  <a:cubicBezTo>
                    <a:pt x="7443" y="4308"/>
                    <a:pt x="9395" y="4308"/>
                    <a:pt x="10599" y="3506"/>
                  </a:cubicBezTo>
                  <a:cubicBezTo>
                    <a:pt x="11803" y="2704"/>
                    <a:pt x="11803" y="1404"/>
                    <a:pt x="10599" y="602"/>
                  </a:cubicBezTo>
                  <a:cubicBezTo>
                    <a:pt x="9997" y="201"/>
                    <a:pt x="9209" y="0"/>
                    <a:pt x="8420" y="0"/>
                  </a:cubicBezTo>
                  <a:close/>
                  <a:moveTo>
                    <a:pt x="12041" y="4278"/>
                  </a:moveTo>
                  <a:cubicBezTo>
                    <a:pt x="10063" y="4274"/>
                    <a:pt x="8150" y="4994"/>
                    <a:pt x="7287" y="6242"/>
                  </a:cubicBezTo>
                  <a:lnTo>
                    <a:pt x="5170" y="9302"/>
                  </a:lnTo>
                  <a:lnTo>
                    <a:pt x="1323" y="8418"/>
                  </a:lnTo>
                  <a:lnTo>
                    <a:pt x="0" y="10055"/>
                  </a:lnTo>
                  <a:lnTo>
                    <a:pt x="6748" y="11699"/>
                  </a:lnTo>
                  <a:lnTo>
                    <a:pt x="8591" y="9187"/>
                  </a:lnTo>
                  <a:cubicBezTo>
                    <a:pt x="8591" y="9187"/>
                    <a:pt x="9405" y="11497"/>
                    <a:pt x="9857" y="12425"/>
                  </a:cubicBezTo>
                  <a:lnTo>
                    <a:pt x="5186" y="16053"/>
                  </a:lnTo>
                  <a:lnTo>
                    <a:pt x="3493" y="21329"/>
                  </a:lnTo>
                  <a:lnTo>
                    <a:pt x="6397" y="21600"/>
                  </a:lnTo>
                  <a:lnTo>
                    <a:pt x="7916" y="17838"/>
                  </a:lnTo>
                  <a:lnTo>
                    <a:pt x="11409" y="15999"/>
                  </a:lnTo>
                  <a:lnTo>
                    <a:pt x="12396" y="19183"/>
                  </a:lnTo>
                  <a:lnTo>
                    <a:pt x="20931" y="18915"/>
                  </a:lnTo>
                  <a:lnTo>
                    <a:pt x="20496" y="17052"/>
                  </a:lnTo>
                  <a:lnTo>
                    <a:pt x="15481" y="17163"/>
                  </a:lnTo>
                  <a:lnTo>
                    <a:pt x="16531" y="12011"/>
                  </a:lnTo>
                  <a:cubicBezTo>
                    <a:pt x="15796" y="10178"/>
                    <a:pt x="14766" y="7569"/>
                    <a:pt x="14766" y="7569"/>
                  </a:cubicBezTo>
                  <a:lnTo>
                    <a:pt x="17153" y="8300"/>
                  </a:lnTo>
                  <a:lnTo>
                    <a:pt x="19102" y="10454"/>
                  </a:lnTo>
                  <a:lnTo>
                    <a:pt x="21600" y="9474"/>
                  </a:lnTo>
                  <a:lnTo>
                    <a:pt x="19112" y="6451"/>
                  </a:lnTo>
                  <a:lnTo>
                    <a:pt x="14686" y="4751"/>
                  </a:lnTo>
                  <a:cubicBezTo>
                    <a:pt x="13852" y="4431"/>
                    <a:pt x="12940" y="4280"/>
                    <a:pt x="12041" y="4278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09" name="Television"/>
            <p:cNvSpPr/>
            <p:nvPr/>
          </p:nvSpPr>
          <p:spPr>
            <a:xfrm>
              <a:off x="0" y="0"/>
              <a:ext cx="1490292" cy="908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675" y="1107"/>
                  </a:moveTo>
                  <a:lnTo>
                    <a:pt x="20920" y="1107"/>
                  </a:lnTo>
                  <a:lnTo>
                    <a:pt x="20920" y="19403"/>
                  </a:lnTo>
                  <a:lnTo>
                    <a:pt x="675" y="19403"/>
                  </a:lnTo>
                  <a:lnTo>
                    <a:pt x="675" y="1107"/>
                  </a:lnTo>
                  <a:close/>
                  <a:moveTo>
                    <a:pt x="945" y="1558"/>
                  </a:moveTo>
                  <a:lnTo>
                    <a:pt x="945" y="18952"/>
                  </a:lnTo>
                  <a:lnTo>
                    <a:pt x="20645" y="18952"/>
                  </a:lnTo>
                  <a:lnTo>
                    <a:pt x="20645" y="1558"/>
                  </a:lnTo>
                  <a:lnTo>
                    <a:pt x="945" y="1558"/>
                  </a:lnTo>
                  <a:close/>
                  <a:moveTo>
                    <a:pt x="19683" y="20211"/>
                  </a:moveTo>
                  <a:cubicBezTo>
                    <a:pt x="19791" y="20211"/>
                    <a:pt x="19877" y="20352"/>
                    <a:pt x="19877" y="20529"/>
                  </a:cubicBezTo>
                  <a:cubicBezTo>
                    <a:pt x="19877" y="20706"/>
                    <a:pt x="19791" y="20847"/>
                    <a:pt x="19683" y="20847"/>
                  </a:cubicBezTo>
                  <a:cubicBezTo>
                    <a:pt x="19575" y="20847"/>
                    <a:pt x="19489" y="20706"/>
                    <a:pt x="19489" y="20529"/>
                  </a:cubicBezTo>
                  <a:cubicBezTo>
                    <a:pt x="19489" y="20352"/>
                    <a:pt x="19575" y="20211"/>
                    <a:pt x="19683" y="20211"/>
                  </a:cubicBezTo>
                  <a:close/>
                  <a:moveTo>
                    <a:pt x="20412" y="20211"/>
                  </a:moveTo>
                  <a:cubicBezTo>
                    <a:pt x="20520" y="20211"/>
                    <a:pt x="20606" y="20352"/>
                    <a:pt x="20606" y="20529"/>
                  </a:cubicBezTo>
                  <a:cubicBezTo>
                    <a:pt x="20606" y="20706"/>
                    <a:pt x="20520" y="20847"/>
                    <a:pt x="20412" y="20847"/>
                  </a:cubicBezTo>
                  <a:cubicBezTo>
                    <a:pt x="20304" y="20847"/>
                    <a:pt x="20218" y="20706"/>
                    <a:pt x="20218" y="20529"/>
                  </a:cubicBezTo>
                  <a:cubicBezTo>
                    <a:pt x="20218" y="20352"/>
                    <a:pt x="20304" y="20211"/>
                    <a:pt x="20412" y="20211"/>
                  </a:cubicBezTo>
                  <a:close/>
                </a:path>
              </a:pathLst>
            </a:custGeom>
            <a:solidFill>
              <a:srgbClr val="5DCB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11" name="Presentation of Topic B…"/>
          <p:cNvSpPr txBox="1"/>
          <p:nvPr/>
        </p:nvSpPr>
        <p:spPr>
          <a:xfrm>
            <a:off x="1577800" y="11042331"/>
            <a:ext cx="6633283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t>Presentation of Topic B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(10-15 minutes)</a:t>
            </a:r>
          </a:p>
        </p:txBody>
      </p:sp>
      <p:sp>
        <p:nvSpPr>
          <p:cNvPr id="212" name="Paired Programming Practice B…"/>
          <p:cNvSpPr txBox="1"/>
          <p:nvPr/>
        </p:nvSpPr>
        <p:spPr>
          <a:xfrm>
            <a:off x="914760" y="6359827"/>
            <a:ext cx="6024095" cy="264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Paired Programming </a:t>
            </a:r>
            <a:endParaRPr lang="en-GB" dirty="0"/>
          </a:p>
          <a:p>
            <a:pPr>
              <a:lnSpc>
                <a:spcPct val="6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Practice B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(30-35 minutes)</a:t>
            </a:r>
          </a:p>
        </p:txBody>
      </p:sp>
      <p:grpSp>
        <p:nvGrpSpPr>
          <p:cNvPr id="219" name="Group"/>
          <p:cNvGrpSpPr/>
          <p:nvPr/>
        </p:nvGrpSpPr>
        <p:grpSpPr>
          <a:xfrm>
            <a:off x="7989139" y="5908270"/>
            <a:ext cx="2889753" cy="2099890"/>
            <a:chOff x="0" y="0"/>
            <a:chExt cx="2889752" cy="2099889"/>
          </a:xfrm>
        </p:grpSpPr>
        <p:grpSp>
          <p:nvGrpSpPr>
            <p:cNvPr id="215" name="Group"/>
            <p:cNvGrpSpPr/>
            <p:nvPr/>
          </p:nvGrpSpPr>
          <p:grpSpPr>
            <a:xfrm>
              <a:off x="1677184" y="710326"/>
              <a:ext cx="1212569" cy="679237"/>
              <a:chOff x="0" y="0"/>
              <a:chExt cx="1212567" cy="679235"/>
            </a:xfrm>
          </p:grpSpPr>
          <p:sp>
            <p:nvSpPr>
              <p:cNvPr id="213" name="Notebook"/>
              <p:cNvSpPr/>
              <p:nvPr/>
            </p:nvSpPr>
            <p:spPr>
              <a:xfrm>
                <a:off x="0" y="0"/>
                <a:ext cx="1212568" cy="67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" name="Snake"/>
              <p:cNvSpPr/>
              <p:nvPr/>
            </p:nvSpPr>
            <p:spPr>
              <a:xfrm>
                <a:off x="303359" y="108886"/>
                <a:ext cx="667114" cy="4614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18" name="Group"/>
            <p:cNvGrpSpPr/>
            <p:nvPr/>
          </p:nvGrpSpPr>
          <p:grpSpPr>
            <a:xfrm>
              <a:off x="-1" y="-1"/>
              <a:ext cx="1433032" cy="2099891"/>
              <a:chOff x="0" y="0"/>
              <a:chExt cx="1433030" cy="2099889"/>
            </a:xfrm>
          </p:grpSpPr>
          <p:sp>
            <p:nvSpPr>
              <p:cNvPr id="216" name="Scuba Diving"/>
              <p:cNvSpPr/>
              <p:nvPr/>
            </p:nvSpPr>
            <p:spPr>
              <a:xfrm>
                <a:off x="167253" y="0"/>
                <a:ext cx="1098524" cy="92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" name="Scuba Diving"/>
              <p:cNvSpPr/>
              <p:nvPr/>
            </p:nvSpPr>
            <p:spPr>
              <a:xfrm rot="19500000">
                <a:off x="167253" y="939341"/>
                <a:ext cx="1098524" cy="9295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20" name="Wrap-Up…"/>
          <p:cNvSpPr txBox="1"/>
          <p:nvPr/>
        </p:nvSpPr>
        <p:spPr>
          <a:xfrm>
            <a:off x="4195024" y="3297474"/>
            <a:ext cx="3854538" cy="181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50000"/>
              </a:lnSpc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t>Wrap-Up</a:t>
            </a:r>
          </a:p>
          <a:p>
            <a:pPr>
              <a:lnSpc>
                <a:spcPct val="50000"/>
              </a:lnSpc>
              <a:defRPr sz="5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(10 minutes)</a:t>
            </a:r>
          </a:p>
        </p:txBody>
      </p:sp>
      <p:sp>
        <p:nvSpPr>
          <p:cNvPr id="8" name="Instructor">
            <a:extLst>
              <a:ext uri="{FF2B5EF4-FFF2-40B4-BE49-F238E27FC236}">
                <a16:creationId xmlns:a16="http://schemas.microsoft.com/office/drawing/2014/main" id="{C6441856-3924-93F8-DDAC-645AB239425A}"/>
              </a:ext>
            </a:extLst>
          </p:cNvPr>
          <p:cNvSpPr txBox="1"/>
          <p:nvPr/>
        </p:nvSpPr>
        <p:spPr>
          <a:xfrm>
            <a:off x="-2071958" y="627002"/>
            <a:ext cx="21388022" cy="121674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lang="en-GB" sz="80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94AABEB-862A-C6C7-2C05-E5BA1238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Sessions Throughout  the course 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asted-movie.png" descr="pasted-movie.png"/>
          <p:cNvPicPr>
            <a:picLocks noChangeAspect="1"/>
          </p:cNvPicPr>
          <p:nvPr/>
        </p:nvPicPr>
        <p:blipFill>
          <a:blip r:embed="rId2"/>
          <a:srcRect l="6674" t="12444" r="12304" b="12444"/>
          <a:stretch>
            <a:fillRect/>
          </a:stretch>
        </p:blipFill>
        <p:spPr>
          <a:xfrm>
            <a:off x="3448415" y="3512498"/>
            <a:ext cx="16635898" cy="7470220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Image from https://medium.com/@tomspencer_uk/pair-programming-and-problem-solving-4531ef3bf171"/>
          <p:cNvSpPr txBox="1"/>
          <p:nvPr/>
        </p:nvSpPr>
        <p:spPr>
          <a:xfrm>
            <a:off x="13925030" y="13186671"/>
            <a:ext cx="1106760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66" i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Image from https://medium.com/@tomspencer_uk/pair-programming-and-problem-solving-4531ef3bf171</a:t>
            </a:r>
            <a:endParaRPr sz="1200" i="0"/>
          </a:p>
        </p:txBody>
      </p:sp>
      <p:sp>
        <p:nvSpPr>
          <p:cNvPr id="3" name="Sessions Throughout  the course">
            <a:extLst>
              <a:ext uri="{FF2B5EF4-FFF2-40B4-BE49-F238E27FC236}">
                <a16:creationId xmlns:a16="http://schemas.microsoft.com/office/drawing/2014/main" id="{620C8F7A-D17D-D14E-DA15-CC5A9B265DFA}"/>
              </a:ext>
            </a:extLst>
          </p:cNvPr>
          <p:cNvSpPr txBox="1"/>
          <p:nvPr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737759-AAF3-3FE7-A1DA-49E68839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Paired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variable_name = sensible…"/>
          <p:cNvSpPr txBox="1"/>
          <p:nvPr/>
        </p:nvSpPr>
        <p:spPr>
          <a:xfrm>
            <a:off x="1200251" y="7184571"/>
            <a:ext cx="5601594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 err="1"/>
              <a:t>variable_name</a:t>
            </a:r>
            <a:r>
              <a:rPr dirty="0"/>
              <a:t> = sensible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</a:t>
            </a:r>
            <a:r>
              <a:rPr dirty="0" err="1"/>
              <a:t>variable_name</a:t>
            </a:r>
            <a:r>
              <a:rPr dirty="0"/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“sensible”</a:t>
            </a:r>
          </a:p>
        </p:txBody>
      </p:sp>
      <p:sp>
        <p:nvSpPr>
          <p:cNvPr id="231" name="Code chunk Text"/>
          <p:cNvSpPr txBox="1"/>
          <p:nvPr/>
        </p:nvSpPr>
        <p:spPr>
          <a:xfrm>
            <a:off x="1200251" y="5725913"/>
            <a:ext cx="65131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Code chunk Text</a:t>
            </a:r>
          </a:p>
        </p:txBody>
      </p:sp>
      <p:sp>
        <p:nvSpPr>
          <p:cNvPr id="232" name="In the slides we may see text which is ‘pink’ in colour and a different font. This is to indicate it is a chunk of text, written in Python. The colour/font don’t matter just noticing it is code is important!"/>
          <p:cNvSpPr txBox="1"/>
          <p:nvPr/>
        </p:nvSpPr>
        <p:spPr>
          <a:xfrm>
            <a:off x="7713351" y="7355177"/>
            <a:ext cx="15211963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In the slides we may see text which is ‘pink’ in </a:t>
            </a:r>
            <a:r>
              <a:rPr dirty="0" err="1"/>
              <a:t>colour</a:t>
            </a:r>
            <a:r>
              <a:rPr dirty="0"/>
              <a:t> and a different font. This is to indicate it is a chunk of text, written in Python. The </a:t>
            </a:r>
            <a:r>
              <a:rPr dirty="0" err="1"/>
              <a:t>colour</a:t>
            </a:r>
            <a:r>
              <a:rPr dirty="0"/>
              <a:t>/font don’t matter just noticing it is code is important!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9A243E-C372-4568-85B5-2688A8A5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During demonstration</a:t>
            </a:r>
            <a:endParaRPr lang="en-US" dirty="0"/>
          </a:p>
        </p:txBody>
      </p:sp>
      <p:sp>
        <p:nvSpPr>
          <p:cNvPr id="7" name="Code chunk Text">
            <a:extLst>
              <a:ext uri="{FF2B5EF4-FFF2-40B4-BE49-F238E27FC236}">
                <a16:creationId xmlns:a16="http://schemas.microsoft.com/office/drawing/2014/main" id="{9E69E4CB-D035-644B-7B02-6F3F32CB7194}"/>
              </a:ext>
            </a:extLst>
          </p:cNvPr>
          <p:cNvSpPr txBox="1"/>
          <p:nvPr/>
        </p:nvSpPr>
        <p:spPr>
          <a:xfrm>
            <a:off x="1200251" y="4257335"/>
            <a:ext cx="16282206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Feel free to ask any questions!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/>
          <p:cNvSpPr txBox="1"/>
          <p:nvPr/>
        </p:nvSpPr>
        <p:spPr>
          <a:xfrm>
            <a:off x="2004438" y="5359400"/>
            <a:ext cx="20375125" cy="299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Introduction to </a:t>
            </a:r>
            <a:r>
              <a:rPr dirty="0" err="1"/>
              <a:t>Noteable</a:t>
            </a:r>
            <a:r>
              <a:rPr dirty="0"/>
              <a:t> and Python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rogramming = Telling the computer what to do…"/>
          <p:cNvSpPr txBox="1"/>
          <p:nvPr/>
        </p:nvSpPr>
        <p:spPr>
          <a:xfrm>
            <a:off x="2944922" y="1814567"/>
            <a:ext cx="18494156" cy="92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Programming = Telling the computer what to do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You need to speak a language the computer will understand,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e.g. Python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How do we ‘speak’ Python?"/>
          <p:cNvSpPr txBox="1"/>
          <p:nvPr/>
        </p:nvSpPr>
        <p:spPr>
          <a:xfrm>
            <a:off x="2082163" y="11520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42" name="In order to ‘speak’ Python we will need two things……"/>
          <p:cNvSpPr txBox="1"/>
          <p:nvPr/>
        </p:nvSpPr>
        <p:spPr>
          <a:xfrm>
            <a:off x="1583114" y="4494227"/>
            <a:ext cx="21087143" cy="5027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In order to ‘speak’ Python we will need two things…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buSzPct val="10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6000" dirty="0"/>
              <a:t>1. </a:t>
            </a:r>
            <a:r>
              <a:rPr sz="6000" dirty="0"/>
              <a:t>The syntax </a:t>
            </a:r>
            <a:r>
              <a:rPr lang="en-GB" sz="6000" dirty="0"/>
              <a:t>(</a:t>
            </a:r>
            <a:r>
              <a:rPr sz="6000" dirty="0"/>
              <a:t>equivalent to the grammar of a language)</a:t>
            </a:r>
            <a:endParaRPr lang="en-GB" sz="60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buSzPct val="10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buSzPct val="10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6000" dirty="0"/>
              <a:t>2. A</a:t>
            </a:r>
            <a:r>
              <a:rPr sz="6000" dirty="0"/>
              <a:t>n interpreter (an interface to take in our Python syntax).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1FDB40-48A2-32B7-6ADA-B8AC16D7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0" y="1204188"/>
            <a:ext cx="17660005" cy="1433163"/>
          </a:xfrm>
        </p:spPr>
        <p:txBody>
          <a:bodyPr>
            <a:normAutofit fontScale="90000"/>
          </a:bodyPr>
          <a:lstStyle/>
          <a:p>
            <a:r>
              <a:rPr lang="en-GB" dirty="0"/>
              <a:t>How do we ‘speak’ Python?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yntax"/>
          <p:cNvSpPr txBox="1"/>
          <p:nvPr/>
        </p:nvSpPr>
        <p:spPr>
          <a:xfrm>
            <a:off x="9408583" y="67419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245" name="pasted-movie.png" descr="pasted-movie.png"/>
          <p:cNvPicPr>
            <a:picLocks noChangeAspect="1"/>
          </p:cNvPicPr>
          <p:nvPr/>
        </p:nvPicPr>
        <p:blipFill>
          <a:blip r:embed="rId3"/>
          <a:srcRect l="7470" b="86322"/>
          <a:stretch>
            <a:fillRect/>
          </a:stretch>
        </p:blipFill>
        <p:spPr>
          <a:xfrm>
            <a:off x="3206126" y="3503017"/>
            <a:ext cx="6946029" cy="1163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pasted-movie.png" descr="pasted-movie.png"/>
          <p:cNvPicPr>
            <a:picLocks noChangeAspect="1"/>
          </p:cNvPicPr>
          <p:nvPr/>
        </p:nvPicPr>
        <p:blipFill>
          <a:blip r:embed="rId4"/>
          <a:srcRect r="51436" b="76156"/>
          <a:stretch>
            <a:fillRect/>
          </a:stretch>
        </p:blipFill>
        <p:spPr>
          <a:xfrm>
            <a:off x="11990217" y="3633390"/>
            <a:ext cx="9187730" cy="153767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7A9288-A904-19DB-7062-AEA9C7E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Syntax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asted-movie.png" descr="pasted-movie.png"/>
          <p:cNvPicPr>
            <a:picLocks noChangeAspect="1"/>
          </p:cNvPicPr>
          <p:nvPr/>
        </p:nvPicPr>
        <p:blipFill>
          <a:blip r:embed="rId2"/>
          <a:srcRect l="7470" b="23088"/>
          <a:stretch>
            <a:fillRect/>
          </a:stretch>
        </p:blipFill>
        <p:spPr>
          <a:xfrm>
            <a:off x="3206126" y="3503017"/>
            <a:ext cx="6946029" cy="65434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asted-movie.png" descr="pasted-movie.png"/>
          <p:cNvPicPr>
            <a:picLocks noChangeAspect="1"/>
          </p:cNvPicPr>
          <p:nvPr/>
        </p:nvPicPr>
        <p:blipFill>
          <a:blip r:embed="rId3"/>
          <a:srcRect r="51436"/>
          <a:stretch>
            <a:fillRect/>
          </a:stretch>
        </p:blipFill>
        <p:spPr>
          <a:xfrm>
            <a:off x="11990217" y="3633390"/>
            <a:ext cx="9187730" cy="644914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01B960-6B8C-5413-1DA3-B0275710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/>
          <p:cNvSpPr txBox="1"/>
          <p:nvPr/>
        </p:nvSpPr>
        <p:spPr>
          <a:xfrm>
            <a:off x="1394623" y="3755120"/>
            <a:ext cx="219710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Our choice of interpreter throughout the week will be </a:t>
            </a:r>
            <a:r>
              <a:rPr dirty="0" err="1"/>
              <a:t>Jupyter</a:t>
            </a:r>
            <a:r>
              <a:rPr dirty="0"/>
              <a:t> Notebooks. These have many benefits: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marL="1296458" indent="-1296458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Easy to use and share with others,</a:t>
            </a:r>
          </a:p>
          <a:p>
            <a:pPr marL="1296458" indent="-1296458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can be run on the </a:t>
            </a:r>
            <a:r>
              <a:rPr dirty="0" err="1"/>
              <a:t>Noteable</a:t>
            </a:r>
            <a:r>
              <a:rPr dirty="0"/>
              <a:t> service,</a:t>
            </a:r>
          </a:p>
          <a:p>
            <a:pPr marL="1296458" indent="-1296458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very hard to break anything (properly).</a:t>
            </a:r>
          </a:p>
        </p:txBody>
      </p:sp>
      <p:sp>
        <p:nvSpPr>
          <p:cNvPr id="253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968547-3DCB-1F9E-B6D9-90505BA1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256" name="Screenshot 2024-04-07 at 20.22.21.png" descr="Screenshot 2024-04-07 at 20.22.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74" y="3388816"/>
            <a:ext cx="14102407" cy="8289202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}"/>
          <p:cNvSpPr txBox="1"/>
          <p:nvPr/>
        </p:nvSpPr>
        <p:spPr>
          <a:xfrm>
            <a:off x="16311438" y="42245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8" name="}"/>
          <p:cNvSpPr txBox="1"/>
          <p:nvPr/>
        </p:nvSpPr>
        <p:spPr>
          <a:xfrm>
            <a:off x="16311438" y="78313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9" name="Text (Markdown)"/>
          <p:cNvSpPr txBox="1"/>
          <p:nvPr/>
        </p:nvSpPr>
        <p:spPr>
          <a:xfrm>
            <a:off x="17652116" y="8524639"/>
            <a:ext cx="640008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(Markdown)</a:t>
            </a:r>
          </a:p>
        </p:txBody>
      </p:sp>
      <p:sp>
        <p:nvSpPr>
          <p:cNvPr id="260" name="Code (Python)"/>
          <p:cNvSpPr txBox="1"/>
          <p:nvPr/>
        </p:nvSpPr>
        <p:spPr>
          <a:xfrm>
            <a:off x="17652116" y="5349639"/>
            <a:ext cx="6400084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Code (Python)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E77C49-6B57-394E-C0A9-F42E1A6E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How does Noteable come into all of this?"/>
          <p:cNvSpPr txBox="1"/>
          <p:nvPr/>
        </p:nvSpPr>
        <p:spPr>
          <a:xfrm>
            <a:off x="5989481" y="5656390"/>
            <a:ext cx="12842388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63" name="Noteable is a university of Edinburgh service which provides online web-based access to a Jupyter Notebook ‘server’. As it is not local this makes it great and easy for research and teaching!"/>
          <p:cNvSpPr txBox="1"/>
          <p:nvPr/>
        </p:nvSpPr>
        <p:spPr>
          <a:xfrm>
            <a:off x="12569585" y="4078344"/>
            <a:ext cx="10796208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 err="1"/>
              <a:t>Noteable</a:t>
            </a:r>
            <a:r>
              <a:rPr dirty="0"/>
              <a:t> is a university of Edinburgh service which provides online web-based access to a </a:t>
            </a:r>
            <a:r>
              <a:rPr dirty="0" err="1"/>
              <a:t>Jupyter</a:t>
            </a:r>
            <a:r>
              <a:rPr dirty="0"/>
              <a:t> Notebook ‘server’. As it is not local this makes it great and easy for research and teaching!</a:t>
            </a:r>
          </a:p>
        </p:txBody>
      </p:sp>
      <p:pic>
        <p:nvPicPr>
          <p:cNvPr id="264" name="logo_noteable.svg" descr="logo_noteable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58" y="7410780"/>
            <a:ext cx="4422105" cy="11320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logo_edina.svg" descr="logo_edina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13" y="7270294"/>
            <a:ext cx="2888962" cy="1310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logo_uoe_stacked.svg" descr="logo_uoe_stacked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35" y="8853815"/>
            <a:ext cx="5295901" cy="127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360_F_422408906_JVucWTxTt8x1ncgT72bvGkKZvbmSeVFn.jpg" descr="360_F_422408906_JVucWTxTt8x1ncgT72bvGkKZvbmSeVF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782" y="3953350"/>
            <a:ext cx="4571317" cy="1142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1200px-Jupyter_logo.svg.png" descr="1200px-Jupyter_logo.sv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286" y="9124270"/>
            <a:ext cx="1687248" cy="1955801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Line"/>
          <p:cNvSpPr/>
          <p:nvPr/>
        </p:nvSpPr>
        <p:spPr>
          <a:xfrm>
            <a:off x="7969163" y="5087175"/>
            <a:ext cx="1221382" cy="1909989"/>
          </a:xfrm>
          <a:prstGeom prst="line">
            <a:avLst/>
          </a:prstGeom>
          <a:ln w="127000">
            <a:solidFill>
              <a:srgbClr val="0A1C3E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0" name="Line"/>
          <p:cNvSpPr/>
          <p:nvPr/>
        </p:nvSpPr>
        <p:spPr>
          <a:xfrm flipH="1">
            <a:off x="2515084" y="5087175"/>
            <a:ext cx="1221381" cy="1909989"/>
          </a:xfrm>
          <a:prstGeom prst="line">
            <a:avLst/>
          </a:prstGeom>
          <a:ln w="127000">
            <a:solidFill>
              <a:srgbClr val="0A1C3E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F886E7-E708-8265-5DFF-ECA690D4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does </a:t>
            </a:r>
            <a:r>
              <a:rPr lang="en-GB" dirty="0" err="1"/>
              <a:t>Noteable</a:t>
            </a:r>
            <a:r>
              <a:rPr lang="en-GB" dirty="0"/>
              <a:t> come into this?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op to Bottom"/>
          <p:cNvSpPr txBox="1"/>
          <p:nvPr/>
        </p:nvSpPr>
        <p:spPr>
          <a:xfrm>
            <a:off x="6577541" y="629900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73" name="Code is written in lines. Each line does something, and they are executed from top to bottom."/>
          <p:cNvSpPr txBox="1"/>
          <p:nvPr/>
        </p:nvSpPr>
        <p:spPr>
          <a:xfrm>
            <a:off x="1253215" y="3218726"/>
            <a:ext cx="22194614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Code is written in lines. </a:t>
            </a:r>
            <a:endParaRPr lang="en-GB" dirty="0"/>
          </a:p>
          <a:p>
            <a:r>
              <a:rPr dirty="0"/>
              <a:t>Each line does something, and they are executed from top to bottom.</a:t>
            </a:r>
          </a:p>
        </p:txBody>
      </p:sp>
      <p:sp>
        <p:nvSpPr>
          <p:cNvPr id="274" name="count = 43…"/>
          <p:cNvSpPr txBox="1"/>
          <p:nvPr/>
        </p:nvSpPr>
        <p:spPr>
          <a:xfrm>
            <a:off x="1281108" y="5701599"/>
            <a:ext cx="5449169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</p:txBody>
      </p:sp>
      <p:sp>
        <p:nvSpPr>
          <p:cNvPr id="275" name="count = 44…"/>
          <p:cNvSpPr txBox="1"/>
          <p:nvPr/>
        </p:nvSpPr>
        <p:spPr>
          <a:xfrm>
            <a:off x="8450268" y="5701599"/>
            <a:ext cx="5449169" cy="294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print(counter)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</p:txBody>
      </p:sp>
      <p:sp>
        <p:nvSpPr>
          <p:cNvPr id="276" name="count = 44…"/>
          <p:cNvSpPr txBox="1"/>
          <p:nvPr/>
        </p:nvSpPr>
        <p:spPr>
          <a:xfrm>
            <a:off x="15619428" y="5460832"/>
            <a:ext cx="6592355" cy="721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print(counter)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count + 1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______________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0E5E1-4899-187C-CFD2-A8B13C87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Top to Bottom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op to Bottom"/>
          <p:cNvSpPr txBox="1"/>
          <p:nvPr/>
        </p:nvSpPr>
        <p:spPr>
          <a:xfrm>
            <a:off x="6577541" y="629900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79" name="Code is written in lines. Each line does something, and they are executed from top to bottom."/>
          <p:cNvSpPr txBox="1"/>
          <p:nvPr/>
        </p:nvSpPr>
        <p:spPr>
          <a:xfrm>
            <a:off x="1281643" y="2871701"/>
            <a:ext cx="22601613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Code is written in lines. </a:t>
            </a:r>
            <a:endParaRPr lang="en-GB" dirty="0"/>
          </a:p>
          <a:p>
            <a:r>
              <a:rPr dirty="0"/>
              <a:t>Each line does something, and they are executed from top to bottom.</a:t>
            </a:r>
          </a:p>
        </p:txBody>
      </p:sp>
      <p:sp>
        <p:nvSpPr>
          <p:cNvPr id="280" name="count = 43…"/>
          <p:cNvSpPr txBox="1"/>
          <p:nvPr/>
        </p:nvSpPr>
        <p:spPr>
          <a:xfrm>
            <a:off x="1281644" y="5578561"/>
            <a:ext cx="4687045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44</a:t>
            </a:r>
          </a:p>
        </p:txBody>
      </p:sp>
      <p:sp>
        <p:nvSpPr>
          <p:cNvPr id="281" name="count = 44…"/>
          <p:cNvSpPr txBox="1"/>
          <p:nvPr/>
        </p:nvSpPr>
        <p:spPr>
          <a:xfrm>
            <a:off x="8043260" y="5384799"/>
            <a:ext cx="5449169" cy="294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print(counter)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ERROR</a:t>
            </a:r>
          </a:p>
        </p:txBody>
      </p:sp>
      <p:sp>
        <p:nvSpPr>
          <p:cNvPr id="282" name="count = 44…"/>
          <p:cNvSpPr txBox="1"/>
          <p:nvPr/>
        </p:nvSpPr>
        <p:spPr>
          <a:xfrm>
            <a:off x="15850029" y="5384799"/>
            <a:ext cx="6592355" cy="721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44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count = count + 1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print(count)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45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ED44DC-4E03-0B46-C5C6-377D6882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 to Bottom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Variables"/>
          <p:cNvSpPr txBox="1"/>
          <p:nvPr/>
        </p:nvSpPr>
        <p:spPr>
          <a:xfrm>
            <a:off x="8387291" y="7184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285" name="Variables are places to store values for later.…"/>
          <p:cNvSpPr txBox="1"/>
          <p:nvPr/>
        </p:nvSpPr>
        <p:spPr>
          <a:xfrm>
            <a:off x="1655028" y="3603434"/>
            <a:ext cx="12583681" cy="472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t>Variables are places to store values for later.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t>There are different types of variables: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string</a:t>
            </a:r>
            <a:r>
              <a:t> for text, e.g. </a:t>
            </a:r>
            <a:r>
              <a:rPr i="1"/>
              <a:t>“penguin” or “I like Python”</a:t>
            </a:r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int</a:t>
            </a:r>
            <a:r>
              <a:t> (integer) for whole numbers, </a:t>
            </a:r>
            <a:r>
              <a:rPr i="1"/>
              <a:t>e.g. 1, 5, 2014</a:t>
            </a:r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float</a:t>
            </a:r>
            <a:r>
              <a:t> for decimal numbers, </a:t>
            </a:r>
            <a:r>
              <a:rPr i="1"/>
              <a:t>e.g. 2.25, 6.1246, 16.2</a:t>
            </a:r>
          </a:p>
          <a:p>
            <a:pPr marL="541870" indent="-54187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266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bool</a:t>
            </a:r>
            <a:r>
              <a:t> (Boolean) for logic values: </a:t>
            </a:r>
            <a:r>
              <a:rPr i="1"/>
              <a:t>True, False</a:t>
            </a:r>
          </a:p>
        </p:txBody>
      </p:sp>
      <p:sp>
        <p:nvSpPr>
          <p:cNvPr id="286" name="my_favourite_animal = “penguin”"/>
          <p:cNvSpPr txBox="1"/>
          <p:nvPr/>
        </p:nvSpPr>
        <p:spPr>
          <a:xfrm>
            <a:off x="2279255" y="9281480"/>
            <a:ext cx="1019474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266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my_favourite_animal = “penguin”</a:t>
            </a:r>
          </a:p>
        </p:txBody>
      </p:sp>
      <p:sp>
        <p:nvSpPr>
          <p:cNvPr id="287" name="Simple Frame"/>
          <p:cNvSpPr/>
          <p:nvPr/>
        </p:nvSpPr>
        <p:spPr>
          <a:xfrm>
            <a:off x="15773400" y="4563876"/>
            <a:ext cx="5480298" cy="54802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82" y="0"/>
                </a:moveTo>
                <a:lnTo>
                  <a:pt x="2843" y="2560"/>
                </a:lnTo>
                <a:lnTo>
                  <a:pt x="18843" y="2560"/>
                </a:lnTo>
                <a:lnTo>
                  <a:pt x="21403" y="0"/>
                </a:lnTo>
                <a:lnTo>
                  <a:pt x="282" y="0"/>
                </a:lnTo>
                <a:close/>
                <a:moveTo>
                  <a:pt x="0" y="197"/>
                </a:moveTo>
                <a:lnTo>
                  <a:pt x="0" y="21403"/>
                </a:lnTo>
                <a:lnTo>
                  <a:pt x="2560" y="18841"/>
                </a:lnTo>
                <a:lnTo>
                  <a:pt x="2560" y="2759"/>
                </a:lnTo>
                <a:lnTo>
                  <a:pt x="0" y="197"/>
                </a:lnTo>
                <a:close/>
                <a:moveTo>
                  <a:pt x="21600" y="282"/>
                </a:moveTo>
                <a:lnTo>
                  <a:pt x="19040" y="2843"/>
                </a:lnTo>
                <a:lnTo>
                  <a:pt x="19040" y="18757"/>
                </a:lnTo>
                <a:lnTo>
                  <a:pt x="21600" y="21318"/>
                </a:lnTo>
                <a:lnTo>
                  <a:pt x="21600" y="282"/>
                </a:lnTo>
                <a:close/>
                <a:moveTo>
                  <a:pt x="2843" y="19040"/>
                </a:moveTo>
                <a:lnTo>
                  <a:pt x="282" y="21600"/>
                </a:lnTo>
                <a:lnTo>
                  <a:pt x="21403" y="21600"/>
                </a:lnTo>
                <a:lnTo>
                  <a:pt x="18841" y="19040"/>
                </a:lnTo>
                <a:lnTo>
                  <a:pt x="2843" y="1904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8" name="my_favourite_animal"/>
          <p:cNvSpPr txBox="1"/>
          <p:nvPr/>
        </p:nvSpPr>
        <p:spPr>
          <a:xfrm>
            <a:off x="15367232" y="3671825"/>
            <a:ext cx="629263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266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my_favourite_animal</a:t>
            </a:r>
          </a:p>
        </p:txBody>
      </p:sp>
      <p:sp>
        <p:nvSpPr>
          <p:cNvPr id="289" name="“penguin”"/>
          <p:cNvSpPr txBox="1"/>
          <p:nvPr/>
        </p:nvSpPr>
        <p:spPr>
          <a:xfrm>
            <a:off x="16993110" y="6948425"/>
            <a:ext cx="304088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266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“penguin”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CBC0E-6B12-712A-1B9A-F4D026A1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Variables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Lets get programming…"/>
          <p:cNvSpPr txBox="1"/>
          <p:nvPr/>
        </p:nvSpPr>
        <p:spPr>
          <a:xfrm>
            <a:off x="2332946" y="3641312"/>
            <a:ext cx="17429044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1a: </a:t>
            </a:r>
            <a:br>
              <a:rPr lang="en-GB" dirty="0"/>
            </a:br>
            <a:r>
              <a:rPr dirty="0"/>
              <a:t>From Running to Writing</a:t>
            </a:r>
          </a:p>
        </p:txBody>
      </p:sp>
      <p:grpSp>
        <p:nvGrpSpPr>
          <p:cNvPr id="298" name="Group"/>
          <p:cNvGrpSpPr/>
          <p:nvPr/>
        </p:nvGrpSpPr>
        <p:grpSpPr>
          <a:xfrm>
            <a:off x="17439286" y="9133464"/>
            <a:ext cx="6306233" cy="4582536"/>
            <a:chOff x="0" y="0"/>
            <a:chExt cx="6306232" cy="4582534"/>
          </a:xfrm>
        </p:grpSpPr>
        <p:grpSp>
          <p:nvGrpSpPr>
            <p:cNvPr id="294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292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3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97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295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6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242691B-9EBB-E842-3852-9C02E922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onditions and Logic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Conditions and Logic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0843-35AB-5CE1-0DB3-AE715623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2 == 2…">
            <a:extLst>
              <a:ext uri="{FF2B5EF4-FFF2-40B4-BE49-F238E27FC236}">
                <a16:creationId xmlns:a16="http://schemas.microsoft.com/office/drawing/2014/main" id="{F6EDC1BC-3F62-2D0D-3C80-62B712C5DA8C}"/>
              </a:ext>
            </a:extLst>
          </p:cNvPr>
          <p:cNvSpPr txBox="1"/>
          <p:nvPr/>
        </p:nvSpPr>
        <p:spPr>
          <a:xfrm>
            <a:off x="3541278" y="4110963"/>
            <a:ext cx="8650722" cy="6258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+			2+1 = 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-			2-1 =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*			2*1 =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/			4/2 =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%			5%3 =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**		2**3 = 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//		4//3 =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E98CE-0E2D-E77F-938D-9B712DD7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A4B95F-2D38-B87D-3661-1BD3B4461DA2}"/>
              </a:ext>
            </a:extLst>
          </p:cNvPr>
          <p:cNvSpPr txBox="1"/>
          <p:nvPr/>
        </p:nvSpPr>
        <p:spPr>
          <a:xfrm>
            <a:off x="1200251" y="2995592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168649026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4D60-DAD9-AD01-7B50-D918406E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2 == 2…">
            <a:extLst>
              <a:ext uri="{FF2B5EF4-FFF2-40B4-BE49-F238E27FC236}">
                <a16:creationId xmlns:a16="http://schemas.microsoft.com/office/drawing/2014/main" id="{C2AB38D2-4326-B24C-D81E-62AD8953F4AD}"/>
              </a:ext>
            </a:extLst>
          </p:cNvPr>
          <p:cNvSpPr txBox="1"/>
          <p:nvPr/>
        </p:nvSpPr>
        <p:spPr>
          <a:xfrm>
            <a:off x="3541278" y="4110963"/>
            <a:ext cx="8650722" cy="6258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+			2+1 =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-			2-1 = 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*			2*1 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/			4/2 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%			5%3 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**		2**3 = 8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//		4//3 = 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825B7-908E-E512-7742-CF609FC8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2 == 2…">
            <a:extLst>
              <a:ext uri="{FF2B5EF4-FFF2-40B4-BE49-F238E27FC236}">
                <a16:creationId xmlns:a16="http://schemas.microsoft.com/office/drawing/2014/main" id="{0E11790B-69CB-1DEB-8295-793A8F1E629F}"/>
              </a:ext>
            </a:extLst>
          </p:cNvPr>
          <p:cNvSpPr txBox="1"/>
          <p:nvPr/>
        </p:nvSpPr>
        <p:spPr>
          <a:xfrm>
            <a:off x="13142478" y="4110963"/>
            <a:ext cx="10720884" cy="6258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Addition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Subtraction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Multiplication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Division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Modulus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Exponentiation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Floor division (to integer)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87766-15BD-0942-9E28-A66728A080E1}"/>
              </a:ext>
            </a:extLst>
          </p:cNvPr>
          <p:cNvSpPr txBox="1"/>
          <p:nvPr/>
        </p:nvSpPr>
        <p:spPr>
          <a:xfrm>
            <a:off x="1200251" y="2995592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371924748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6EAC1-53A3-6630-D577-FCE0B90E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2 == 2…">
            <a:extLst>
              <a:ext uri="{FF2B5EF4-FFF2-40B4-BE49-F238E27FC236}">
                <a16:creationId xmlns:a16="http://schemas.microsoft.com/office/drawing/2014/main" id="{1C48568E-6C53-08B4-4648-8BFE7C3D315E}"/>
              </a:ext>
            </a:extLst>
          </p:cNvPr>
          <p:cNvSpPr txBox="1"/>
          <p:nvPr/>
        </p:nvSpPr>
        <p:spPr>
          <a:xfrm>
            <a:off x="6262706" y="4721116"/>
            <a:ext cx="1768586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+=					x += 3					x = x + 3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-=					x -= 3					x = x - 3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E3012-8EA2-8AA2-62C5-F97CAF6B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FF708-E894-B0E8-4D5C-1FE1FAF9D2E1}"/>
              </a:ext>
            </a:extLst>
          </p:cNvPr>
          <p:cNvSpPr txBox="1"/>
          <p:nvPr/>
        </p:nvSpPr>
        <p:spPr>
          <a:xfrm>
            <a:off x="1200251" y="2995592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Assignment operators</a:t>
            </a:r>
          </a:p>
        </p:txBody>
      </p:sp>
      <p:sp>
        <p:nvSpPr>
          <p:cNvPr id="3" name="2 == 2…">
            <a:extLst>
              <a:ext uri="{FF2B5EF4-FFF2-40B4-BE49-F238E27FC236}">
                <a16:creationId xmlns:a16="http://schemas.microsoft.com/office/drawing/2014/main" id="{C77F954B-D721-9D64-FB2C-2732C4AFFED5}"/>
              </a:ext>
            </a:extLst>
          </p:cNvPr>
          <p:cNvSpPr txBox="1"/>
          <p:nvPr/>
        </p:nvSpPr>
        <p:spPr>
          <a:xfrm>
            <a:off x="6262706" y="8909443"/>
            <a:ext cx="1768586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+=					x += 3					x = x + 3	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-=					x -= 3					x = x - 3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B2934-EF70-E7B9-361D-6306FD5211BC}"/>
              </a:ext>
            </a:extLst>
          </p:cNvPr>
          <p:cNvSpPr txBox="1"/>
          <p:nvPr/>
        </p:nvSpPr>
        <p:spPr>
          <a:xfrm>
            <a:off x="1200251" y="7183919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399205854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2 == 2…"/>
          <p:cNvSpPr txBox="1"/>
          <p:nvPr/>
        </p:nvSpPr>
        <p:spPr>
          <a:xfrm>
            <a:off x="5043506" y="3693096"/>
            <a:ext cx="8497666" cy="591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“whale"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"2024" == 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5D87F-1754-246E-F23A-014EF3A2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EC0B-A934-FF3F-057F-711C7501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rue…">
            <a:extLst>
              <a:ext uri="{FF2B5EF4-FFF2-40B4-BE49-F238E27FC236}">
                <a16:creationId xmlns:a16="http://schemas.microsoft.com/office/drawing/2014/main" id="{CE194591-535F-86B7-9392-338342D653F4}"/>
              </a:ext>
            </a:extLst>
          </p:cNvPr>
          <p:cNvSpPr txBox="1"/>
          <p:nvPr/>
        </p:nvSpPr>
        <p:spPr>
          <a:xfrm>
            <a:off x="14125491" y="3693095"/>
            <a:ext cx="2019611" cy="591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False</a:t>
            </a:r>
          </a:p>
        </p:txBody>
      </p:sp>
      <p:sp>
        <p:nvSpPr>
          <p:cNvPr id="307" name="2 == 2…">
            <a:extLst>
              <a:ext uri="{FF2B5EF4-FFF2-40B4-BE49-F238E27FC236}">
                <a16:creationId xmlns:a16="http://schemas.microsoft.com/office/drawing/2014/main" id="{0EE51896-3543-BB7F-9867-E58759FDF5BF}"/>
              </a:ext>
            </a:extLst>
          </p:cNvPr>
          <p:cNvSpPr txBox="1"/>
          <p:nvPr/>
        </p:nvSpPr>
        <p:spPr>
          <a:xfrm>
            <a:off x="5043506" y="3693096"/>
            <a:ext cx="8497666" cy="591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==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“whale"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"penguin" == "Penguin"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"2024" == 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6DE3C-2DCD-EE6F-97F8-3BA1209D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  <p:extLst>
      <p:ext uri="{BB962C8B-B14F-4D97-AF65-F5344CB8AC3E}">
        <p14:creationId xmlns:p14="http://schemas.microsoft.com/office/powerpoint/2010/main" val="179690968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2 &lt; 2…"/>
          <p:cNvSpPr txBox="1"/>
          <p:nvPr/>
        </p:nvSpPr>
        <p:spPr>
          <a:xfrm>
            <a:off x="8984936" y="4112195"/>
            <a:ext cx="2400673" cy="5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&gt;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4B2F1-A2C5-E44B-D16C-2E600B7E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C9B5-82B8-25E4-842A-4BE20403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2 &lt; 2…">
            <a:extLst>
              <a:ext uri="{FF2B5EF4-FFF2-40B4-BE49-F238E27FC236}">
                <a16:creationId xmlns:a16="http://schemas.microsoft.com/office/drawing/2014/main" id="{B7D8A73A-9F53-AB1D-A19C-A7D697961757}"/>
              </a:ext>
            </a:extLst>
          </p:cNvPr>
          <p:cNvSpPr txBox="1"/>
          <p:nvPr/>
        </p:nvSpPr>
        <p:spPr>
          <a:xfrm>
            <a:off x="8984936" y="4112195"/>
            <a:ext cx="2400673" cy="5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 3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&gt;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2 &lt;=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2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3 != 3</a:t>
            </a:r>
          </a:p>
        </p:txBody>
      </p:sp>
      <p:sp>
        <p:nvSpPr>
          <p:cNvPr id="314" name="False…">
            <a:extLst>
              <a:ext uri="{FF2B5EF4-FFF2-40B4-BE49-F238E27FC236}">
                <a16:creationId xmlns:a16="http://schemas.microsoft.com/office/drawing/2014/main" id="{EB1B9BE2-6FB9-11FB-4F26-C870BE34A06E}"/>
              </a:ext>
            </a:extLst>
          </p:cNvPr>
          <p:cNvSpPr txBox="1"/>
          <p:nvPr/>
        </p:nvSpPr>
        <p:spPr>
          <a:xfrm>
            <a:off x="12885251" y="4112196"/>
            <a:ext cx="2019611" cy="5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False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True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False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5EE51-99A5-F1F5-BAE0-ED6506DB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</p:spTree>
    <p:extLst>
      <p:ext uri="{BB962C8B-B14F-4D97-AF65-F5344CB8AC3E}">
        <p14:creationId xmlns:p14="http://schemas.microsoft.com/office/powerpoint/2010/main" val="272108241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5F38-4222-ECCF-FB1C-C2976CB3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2 &lt; 2…">
            <a:extLst>
              <a:ext uri="{FF2B5EF4-FFF2-40B4-BE49-F238E27FC236}">
                <a16:creationId xmlns:a16="http://schemas.microsoft.com/office/drawing/2014/main" id="{04E29CD4-C851-5643-616A-A3BAE9E0BBE1}"/>
              </a:ext>
            </a:extLst>
          </p:cNvPr>
          <p:cNvSpPr txBox="1"/>
          <p:nvPr/>
        </p:nvSpPr>
        <p:spPr>
          <a:xfrm>
            <a:off x="1517336" y="3900967"/>
            <a:ext cx="8951168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print(x &gt; 0 and x &lt; 10)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1A275-B680-A649-72D3-E3FCD978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  <p:sp>
        <p:nvSpPr>
          <p:cNvPr id="5" name="2 &lt; 2…">
            <a:extLst>
              <a:ext uri="{FF2B5EF4-FFF2-40B4-BE49-F238E27FC236}">
                <a16:creationId xmlns:a16="http://schemas.microsoft.com/office/drawing/2014/main" id="{CCB2289C-A24D-B668-9A12-1DC39F6000E3}"/>
              </a:ext>
            </a:extLst>
          </p:cNvPr>
          <p:cNvSpPr txBox="1"/>
          <p:nvPr/>
        </p:nvSpPr>
        <p:spPr>
          <a:xfrm>
            <a:off x="1517336" y="8630518"/>
            <a:ext cx="8566448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print(x &lt; 5 or x &gt; 10)</a:t>
            </a:r>
            <a:endParaRPr dirty="0"/>
          </a:p>
        </p:txBody>
      </p:sp>
      <p:sp>
        <p:nvSpPr>
          <p:cNvPr id="6" name="2 &lt; 2…">
            <a:extLst>
              <a:ext uri="{FF2B5EF4-FFF2-40B4-BE49-F238E27FC236}">
                <a16:creationId xmlns:a16="http://schemas.microsoft.com/office/drawing/2014/main" id="{93F5DEF5-9528-9583-7ED4-1A8955232B03}"/>
              </a:ext>
            </a:extLst>
          </p:cNvPr>
          <p:cNvSpPr txBox="1"/>
          <p:nvPr/>
        </p:nvSpPr>
        <p:spPr>
          <a:xfrm>
            <a:off x="12686078" y="3900967"/>
            <a:ext cx="10874772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print(not(x &gt; 3 and x &lt; 10))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968644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EE8B-DE2C-9E6F-D8A4-12F9C8DE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2 &lt; 2…">
            <a:extLst>
              <a:ext uri="{FF2B5EF4-FFF2-40B4-BE49-F238E27FC236}">
                <a16:creationId xmlns:a16="http://schemas.microsoft.com/office/drawing/2014/main" id="{9CA0FDB9-C294-76E6-5367-78A0CD42DAD0}"/>
              </a:ext>
            </a:extLst>
          </p:cNvPr>
          <p:cNvSpPr txBox="1"/>
          <p:nvPr/>
        </p:nvSpPr>
        <p:spPr>
          <a:xfrm>
            <a:off x="1517336" y="3900967"/>
            <a:ext cx="8951168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print(x &gt; 0 and x &lt; 10)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CFBDC-BBDF-02F7-7A51-BD2A163B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Variables</a:t>
            </a:r>
          </a:p>
        </p:txBody>
      </p:sp>
      <p:sp>
        <p:nvSpPr>
          <p:cNvPr id="5" name="2 &lt; 2…">
            <a:extLst>
              <a:ext uri="{FF2B5EF4-FFF2-40B4-BE49-F238E27FC236}">
                <a16:creationId xmlns:a16="http://schemas.microsoft.com/office/drawing/2014/main" id="{55A9466C-BBA2-FFC9-3C4D-1EF1E6EB320A}"/>
              </a:ext>
            </a:extLst>
          </p:cNvPr>
          <p:cNvSpPr txBox="1"/>
          <p:nvPr/>
        </p:nvSpPr>
        <p:spPr>
          <a:xfrm>
            <a:off x="1517336" y="8630518"/>
            <a:ext cx="8566448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print(x &lt; 5 or x &gt; 10)</a:t>
            </a:r>
            <a:endParaRPr dirty="0"/>
          </a:p>
        </p:txBody>
      </p:sp>
      <p:sp>
        <p:nvSpPr>
          <p:cNvPr id="6" name="2 &lt; 2…">
            <a:extLst>
              <a:ext uri="{FF2B5EF4-FFF2-40B4-BE49-F238E27FC236}">
                <a16:creationId xmlns:a16="http://schemas.microsoft.com/office/drawing/2014/main" id="{153E1AC8-08B1-630A-6931-B8B0913D9FA3}"/>
              </a:ext>
            </a:extLst>
          </p:cNvPr>
          <p:cNvSpPr txBox="1"/>
          <p:nvPr/>
        </p:nvSpPr>
        <p:spPr>
          <a:xfrm>
            <a:off x="12686078" y="3900967"/>
            <a:ext cx="10874772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print(not(x &gt; 3 and x &lt; 10))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ACAF0-1CFF-B2FC-ACB5-41601E678A5A}"/>
              </a:ext>
            </a:extLst>
          </p:cNvPr>
          <p:cNvSpPr txBox="1"/>
          <p:nvPr/>
        </p:nvSpPr>
        <p:spPr>
          <a:xfrm>
            <a:off x="1517336" y="6666046"/>
            <a:ext cx="237975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FB6D9-851D-3EB6-5D8D-00E89C085261}"/>
              </a:ext>
            </a:extLst>
          </p:cNvPr>
          <p:cNvSpPr txBox="1"/>
          <p:nvPr/>
        </p:nvSpPr>
        <p:spPr>
          <a:xfrm>
            <a:off x="1517336" y="11282358"/>
            <a:ext cx="237975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F4EBF-774E-F9CE-484F-0EBA9674F455}"/>
              </a:ext>
            </a:extLst>
          </p:cNvPr>
          <p:cNvSpPr txBox="1"/>
          <p:nvPr/>
        </p:nvSpPr>
        <p:spPr>
          <a:xfrm>
            <a:off x="12686078" y="6858000"/>
            <a:ext cx="237975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0A1C3E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dirty="0"/>
              <a:t>False</a:t>
            </a:r>
          </a:p>
        </p:txBody>
      </p:sp>
      <p:sp>
        <p:nvSpPr>
          <p:cNvPr id="9" name="2 &lt; 2…">
            <a:extLst>
              <a:ext uri="{FF2B5EF4-FFF2-40B4-BE49-F238E27FC236}">
                <a16:creationId xmlns:a16="http://schemas.microsoft.com/office/drawing/2014/main" id="{D92B7212-56F7-A9D0-B955-D98A2AE1E267}"/>
              </a:ext>
            </a:extLst>
          </p:cNvPr>
          <p:cNvSpPr txBox="1"/>
          <p:nvPr/>
        </p:nvSpPr>
        <p:spPr>
          <a:xfrm>
            <a:off x="12686078" y="8630518"/>
            <a:ext cx="5873403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lang="en-GB" sz="5000" dirty="0">
                <a:sym typeface="Andale Mono"/>
              </a:rPr>
              <a:t>x = 5</a:t>
            </a:r>
            <a:br>
              <a:rPr lang="en-GB" sz="5000" dirty="0">
                <a:sym typeface="Andale Mono"/>
              </a:rPr>
            </a:br>
            <a:br>
              <a:rPr lang="en-GB" sz="5000" dirty="0">
                <a:sym typeface="Andale Mono"/>
              </a:rPr>
            </a:br>
            <a:r>
              <a:rPr lang="en-GB" sz="5000" dirty="0">
                <a:sym typeface="Andale Mono"/>
              </a:rPr>
              <a:t>x &gt; 3 or x &gt; 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782951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ontrolling what part of your code gets executed based on some conditions can be very useful in capturing real life conditionals.…"/>
          <p:cNvSpPr txBox="1"/>
          <p:nvPr/>
        </p:nvSpPr>
        <p:spPr>
          <a:xfrm>
            <a:off x="3078320" y="3828228"/>
            <a:ext cx="18410080" cy="3180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Controlling what part of your code gets executed based on some conditions can be very useful in capturing real life conditionals.</a:t>
            </a:r>
            <a:endParaRPr lang="en-GB"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E.g. “If the traffic light is green, go, otherwise, wait.”</a:t>
            </a:r>
          </a:p>
        </p:txBody>
      </p:sp>
      <p:pic>
        <p:nvPicPr>
          <p:cNvPr id="31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005" y="7764036"/>
            <a:ext cx="18565491" cy="431234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4164BD-6E50-4C02-CB35-980E572A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Lets get programming…"/>
          <p:cNvSpPr txBox="1"/>
          <p:nvPr/>
        </p:nvSpPr>
        <p:spPr>
          <a:xfrm>
            <a:off x="2548030" y="4182303"/>
            <a:ext cx="17429044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1b: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If (This AND That)</a:t>
            </a:r>
          </a:p>
        </p:txBody>
      </p:sp>
      <p:grpSp>
        <p:nvGrpSpPr>
          <p:cNvPr id="327" name="Group"/>
          <p:cNvGrpSpPr/>
          <p:nvPr/>
        </p:nvGrpSpPr>
        <p:grpSpPr>
          <a:xfrm>
            <a:off x="14761401" y="6106756"/>
            <a:ext cx="6306233" cy="4582536"/>
            <a:chOff x="0" y="0"/>
            <a:chExt cx="6306232" cy="4582534"/>
          </a:xfrm>
        </p:grpSpPr>
        <p:grpSp>
          <p:nvGrpSpPr>
            <p:cNvPr id="323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321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22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324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25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A2F308-830C-4D99-2051-EA9DBDA9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Functions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Functions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Part 1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Questions to ask…"/>
          <p:cNvSpPr txBox="1"/>
          <p:nvPr/>
        </p:nvSpPr>
        <p:spPr>
          <a:xfrm>
            <a:off x="4978929" y="1006402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35" name="1.What is a function?"/>
          <p:cNvSpPr txBox="1"/>
          <p:nvPr/>
        </p:nvSpPr>
        <p:spPr>
          <a:xfrm>
            <a:off x="8655972" y="4006751"/>
            <a:ext cx="70720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58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1.What is a function?</a:t>
            </a:r>
          </a:p>
        </p:txBody>
      </p:sp>
      <p:sp>
        <p:nvSpPr>
          <p:cNvPr id="336" name="2. Why do we use functions?"/>
          <p:cNvSpPr txBox="1"/>
          <p:nvPr/>
        </p:nvSpPr>
        <p:spPr>
          <a:xfrm>
            <a:off x="7797047" y="6068417"/>
            <a:ext cx="9639785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8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2. Why do we use functions?</a:t>
            </a:r>
          </a:p>
        </p:txBody>
      </p:sp>
      <p:sp>
        <p:nvSpPr>
          <p:cNvPr id="337" name="3. How do I make a function in Python?"/>
          <p:cNvSpPr txBox="1"/>
          <p:nvPr/>
        </p:nvSpPr>
        <p:spPr>
          <a:xfrm>
            <a:off x="6121755" y="8130083"/>
            <a:ext cx="13077734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8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3. How do I make a function in Python?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AB56B-3B4C-9558-2471-C850A520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Questions to ask…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pasted-movie.gif" descr="pasted-movi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3336639"/>
            <a:ext cx="10541000" cy="70358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EF7E40-D584-3258-5DD6-E5E182E9D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A way to generalise a process that will need to be done over and over again."/>
          <p:cNvSpPr txBox="1"/>
          <p:nvPr/>
        </p:nvSpPr>
        <p:spPr>
          <a:xfrm>
            <a:off x="3777245" y="4049630"/>
            <a:ext cx="16829509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way to generalise a process that will need to be done over and over again.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C02C2-E17F-47FD-E94E-C3397D94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Why do we use functions?"/>
          <p:cNvSpPr txBox="1"/>
          <p:nvPr/>
        </p:nvSpPr>
        <p:spPr>
          <a:xfrm>
            <a:off x="2251075" y="113928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46" name="Reduce lines of code,…"/>
          <p:cNvSpPr txBox="1"/>
          <p:nvPr/>
        </p:nvSpPr>
        <p:spPr>
          <a:xfrm>
            <a:off x="2680334" y="4481499"/>
            <a:ext cx="20089863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914400" indent="-9144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Reduce lines of code,</a:t>
            </a:r>
          </a:p>
          <a:p>
            <a:pPr marL="914400" indent="-9144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Enhance computing performance,</a:t>
            </a:r>
          </a:p>
          <a:p>
            <a:pPr marL="914400" indent="-9144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Make life easier!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316FB-89BE-7FF1-4D8A-E75D2818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use functions?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588" y="4802991"/>
            <a:ext cx="15424326" cy="680967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109111-9687-34DA-1496-762BE5E5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use functions?</a:t>
            </a:r>
            <a:br>
              <a:rPr lang="en-GB" dirty="0"/>
            </a:br>
            <a:endParaRPr lang="en-US" dirty="0"/>
          </a:p>
        </p:txBody>
      </p:sp>
      <p:sp>
        <p:nvSpPr>
          <p:cNvPr id="6" name="Why do we use functions?">
            <a:extLst>
              <a:ext uri="{FF2B5EF4-FFF2-40B4-BE49-F238E27FC236}">
                <a16:creationId xmlns:a16="http://schemas.microsoft.com/office/drawing/2014/main" id="{E1151590-55D5-6E86-DE5E-A136200AD2C1}"/>
              </a:ext>
            </a:extLst>
          </p:cNvPr>
          <p:cNvSpPr txBox="1"/>
          <p:nvPr/>
        </p:nvSpPr>
        <p:spPr>
          <a:xfrm>
            <a:off x="2447018" y="262941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What is the recipe For A…"/>
          <p:cNvSpPr txBox="1"/>
          <p:nvPr/>
        </p:nvSpPr>
        <p:spPr>
          <a:xfrm>
            <a:off x="12140672" y="1670816"/>
            <a:ext cx="102656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352" name="'def'…"/>
          <p:cNvSpPr txBox="1"/>
          <p:nvPr/>
        </p:nvSpPr>
        <p:spPr>
          <a:xfrm>
            <a:off x="6617334" y="5131440"/>
            <a:ext cx="11929518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'def'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Name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What goes into it (arguments)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What it does (the steps)</a:t>
            </a:r>
          </a:p>
          <a:p>
            <a:pPr marL="889000" indent="-88900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What it gives back (return value)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204B2-2A2F-2B47-807A-A8DE5D4F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What is the recipe For A </a:t>
            </a:r>
            <a:br>
              <a:rPr lang="en-GB" dirty="0"/>
            </a:br>
            <a:r>
              <a:rPr lang="en-GB" dirty="0"/>
              <a:t>function in Python?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658" y="2637351"/>
            <a:ext cx="14486186" cy="993170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2A4AB5-0483-2D5D-E763-0B2281D8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Lets get programming…"/>
          <p:cNvSpPr txBox="1"/>
          <p:nvPr/>
        </p:nvSpPr>
        <p:spPr>
          <a:xfrm>
            <a:off x="3790531" y="4921432"/>
            <a:ext cx="11739417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2a: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Write the Recipe</a:t>
            </a:r>
          </a:p>
        </p:txBody>
      </p:sp>
      <p:grpSp>
        <p:nvGrpSpPr>
          <p:cNvPr id="363" name="Group"/>
          <p:cNvGrpSpPr/>
          <p:nvPr/>
        </p:nvGrpSpPr>
        <p:grpSpPr>
          <a:xfrm>
            <a:off x="16122955" y="6288549"/>
            <a:ext cx="6306233" cy="4582536"/>
            <a:chOff x="0" y="0"/>
            <a:chExt cx="6306232" cy="4582534"/>
          </a:xfrm>
        </p:grpSpPr>
        <p:grpSp>
          <p:nvGrpSpPr>
            <p:cNvPr id="359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357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8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62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360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1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9A72E7-1567-8980-6E49-31523004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Lets get programming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Functions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Functions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Part 2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Local and Global"/>
          <p:cNvSpPr txBox="1"/>
          <p:nvPr/>
        </p:nvSpPr>
        <p:spPr>
          <a:xfrm>
            <a:off x="5369454" y="6930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371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3257550"/>
            <a:ext cx="3288592" cy="4391474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350" y="3257550"/>
            <a:ext cx="7795873" cy="4391474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Local:…"/>
          <p:cNvSpPr txBox="1"/>
          <p:nvPr/>
        </p:nvSpPr>
        <p:spPr>
          <a:xfrm>
            <a:off x="4426067" y="8395797"/>
            <a:ext cx="5206058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Local:</a:t>
            </a:r>
          </a:p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Only those close to him</a:t>
            </a:r>
            <a:r>
              <a:rPr i="1"/>
              <a:t> (within the same function)</a:t>
            </a:r>
            <a:r>
              <a:t> who know about what he can do.</a:t>
            </a:r>
          </a:p>
        </p:txBody>
      </p:sp>
      <p:sp>
        <p:nvSpPr>
          <p:cNvPr id="374" name="Global:…"/>
          <p:cNvSpPr txBox="1"/>
          <p:nvPr/>
        </p:nvSpPr>
        <p:spPr>
          <a:xfrm>
            <a:off x="13239257" y="8624397"/>
            <a:ext cx="5206058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Global:</a:t>
            </a:r>
          </a:p>
          <a:p>
            <a: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Can be accessed by anyone, anywhere – everyone knows what he can do!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D9A53-1746-7755-350A-9B95DBD0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and Global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he Scope Rules"/>
          <p:cNvSpPr txBox="1"/>
          <p:nvPr/>
        </p:nvSpPr>
        <p:spPr>
          <a:xfrm>
            <a:off x="5966883" y="6930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77" name="Rule 1: Anything inside a function is mysterious to the outside...…"/>
          <p:cNvSpPr txBox="1"/>
          <p:nvPr/>
        </p:nvSpPr>
        <p:spPr>
          <a:xfrm>
            <a:off x="1469766" y="3877401"/>
            <a:ext cx="21444468" cy="543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Rule 1: Anything inside a function is mysterious to the outside...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You are not able to peek inside of a function elsewhere in code. </a:t>
            </a:r>
            <a:br/>
            <a:r>
              <a:t>Only things returned will become available to the 'global' environment.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Rule 2: Functions can look outside, but shouldn't...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Things can get complicated when a function looks outside. </a:t>
            </a:r>
            <a:br/>
            <a:r>
              <a:t>We tackle this by carefully specifying arguments with relevant names.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1919-628A-5F83-FF1E-1901D23D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Scope Rules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Lets get programming…"/>
          <p:cNvSpPr txBox="1"/>
          <p:nvPr/>
        </p:nvSpPr>
        <p:spPr>
          <a:xfrm>
            <a:off x="1284911" y="1417139"/>
            <a:ext cx="17429045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Lets get programming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Session 2b: SCOPE</a:t>
            </a:r>
          </a:p>
        </p:txBody>
      </p:sp>
      <p:grpSp>
        <p:nvGrpSpPr>
          <p:cNvPr id="386" name="Group"/>
          <p:cNvGrpSpPr/>
          <p:nvPr/>
        </p:nvGrpSpPr>
        <p:grpSpPr>
          <a:xfrm>
            <a:off x="15087972" y="7276113"/>
            <a:ext cx="6306233" cy="4582536"/>
            <a:chOff x="0" y="0"/>
            <a:chExt cx="6306232" cy="4582534"/>
          </a:xfrm>
        </p:grpSpPr>
        <p:grpSp>
          <p:nvGrpSpPr>
            <p:cNvPr id="382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380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1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85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383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4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A40DBA-19BD-49A9-8E15-650D6DBF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ollections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Collections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7E890-9D42-7DB5-3D22-5388AC0C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net0 = &quot;Mercury&quot;…">
            <a:extLst>
              <a:ext uri="{FF2B5EF4-FFF2-40B4-BE49-F238E27FC236}">
                <a16:creationId xmlns:a16="http://schemas.microsoft.com/office/drawing/2014/main" id="{BFC2D941-19A9-94DE-8FD0-22807EE2BA57}"/>
              </a:ext>
            </a:extLst>
          </p:cNvPr>
          <p:cNvSpPr txBox="1"/>
          <p:nvPr/>
        </p:nvSpPr>
        <p:spPr>
          <a:xfrm>
            <a:off x="8663443" y="3674430"/>
            <a:ext cx="6630461" cy="463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planet0 = "Mercury"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planet1 = "Venus"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planet2 = "Earth"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planet3 = "Mars"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planet4 = "Jupyter"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planet5 = "Saturn"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planet6 = "Uranus”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95DF7-4CF2-0A3C-7600-F8857B86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2583091713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net0 = &quot;Mercury&quot;…"/>
          <p:cNvSpPr txBox="1"/>
          <p:nvPr/>
        </p:nvSpPr>
        <p:spPr>
          <a:xfrm>
            <a:off x="8663443" y="3674430"/>
            <a:ext cx="6630461" cy="463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planet0 = "Mercury"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planet1 = "Venus"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planet2 = "Earth"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planet3 = "Mars"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planet4 = "Jupyter"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planet5 = "Saturn"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planet6 = "Uranus”</a:t>
            </a:r>
          </a:p>
        </p:txBody>
      </p:sp>
      <p:sp>
        <p:nvSpPr>
          <p:cNvPr id="399" name="planets = [&quot;Mercury&quot;, &quot;Venus&quot;, &quot;Earth&quot;, &quot;Mars&quot;, &quot;Jupyter&quot;, &quot;Saturn&quot;, &quot;Uranus&quot;]"/>
          <p:cNvSpPr txBox="1"/>
          <p:nvPr/>
        </p:nvSpPr>
        <p:spPr>
          <a:xfrm>
            <a:off x="5256075" y="8894704"/>
            <a:ext cx="13871850" cy="204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5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planets = ["Mercury", "Venus", "Earth", "Mars", "Jupyter", "Saturn", "Uranus"]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2D1B3-E7BC-D8F3-2951-90765397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Why Use Lists?"/>
          <p:cNvSpPr txBox="1"/>
          <p:nvPr/>
        </p:nvSpPr>
        <p:spPr>
          <a:xfrm>
            <a:off x="6648450" y="592520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402" name="planets = [&quot;Mercury&quot;, &quot;Venus&quot;, &quot;Earth&quot;, &quot;Mars&quot;, &quot;Jupyter&quot;, &quot;Saturn&quot;, &quot;Uranus&quot;]"/>
          <p:cNvSpPr txBox="1"/>
          <p:nvPr/>
        </p:nvSpPr>
        <p:spPr>
          <a:xfrm>
            <a:off x="3303442" y="3867567"/>
            <a:ext cx="18125458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planets = ["Mercury", "Venus", "Earth", "Mars", "Jupyter", "Saturn", "Uranus"]</a:t>
            </a:r>
          </a:p>
        </p:txBody>
      </p:sp>
      <p:sp>
        <p:nvSpPr>
          <p:cNvPr id="403" name="✅ Count how many items are in the list…"/>
          <p:cNvSpPr txBox="1"/>
          <p:nvPr/>
        </p:nvSpPr>
        <p:spPr>
          <a:xfrm>
            <a:off x="2936522" y="6468054"/>
            <a:ext cx="11160759" cy="429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Count how many items are in the list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Check if a specific item is in the list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Find the location of a specific item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Add and remove items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✅ Sort (alphabetically or otherwise)</a:t>
            </a:r>
          </a:p>
        </p:txBody>
      </p:sp>
      <p:pic>
        <p:nvPicPr>
          <p:cNvPr id="40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671" y="5475191"/>
            <a:ext cx="5480052" cy="627832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FDC61-1C09-1DB5-D167-70327C77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Use Lists?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uple…"/>
          <p:cNvSpPr txBox="1"/>
          <p:nvPr/>
        </p:nvSpPr>
        <p:spPr>
          <a:xfrm>
            <a:off x="1527043" y="3824514"/>
            <a:ext cx="16757913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Tuple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planets = ("Mercury", "Venus", "Earth", "Mars", "</a:t>
            </a:r>
            <a:r>
              <a:rPr dirty="0" err="1"/>
              <a:t>Jupyter</a:t>
            </a:r>
            <a:r>
              <a:rPr dirty="0"/>
              <a:t>", "Saturn", "Uranus”)</a:t>
            </a:r>
            <a:br>
              <a:rPr dirty="0"/>
            </a:b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• Uses () instead of []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• Same as a list, except it cannot be changed after creating it 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A6B7A5-1188-72D4-4B6D-BBE473A6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et…"/>
          <p:cNvSpPr txBox="1"/>
          <p:nvPr/>
        </p:nvSpPr>
        <p:spPr>
          <a:xfrm>
            <a:off x="1626868" y="3273539"/>
            <a:ext cx="21117766" cy="748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planets = {"Mercury", "Venus", "Earth", "Mars", "</a:t>
            </a:r>
            <a:r>
              <a:rPr dirty="0" err="1"/>
              <a:t>Jupyter</a:t>
            </a:r>
            <a:r>
              <a:rPr dirty="0"/>
              <a:t>", "Saturn", "Uranus”}</a:t>
            </a:r>
            <a:br>
              <a:rPr dirty="0"/>
            </a:b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• Uses {} instead of [] (list) or () (tuple)</a:t>
            </a:r>
          </a:p>
          <a:p>
            <a:pPr marL="571500" indent="-5715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Same as a list, except:</a:t>
            </a:r>
          </a:p>
          <a:p>
            <a:pPr marL="1181100" lvl="1" indent="-5715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Every item is unique (items cannot be listed twice)</a:t>
            </a:r>
          </a:p>
          <a:p>
            <a:pPr marL="1181100" lvl="1" indent="-5715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Order does not matter and will change (no indexing)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1A0025-61D0-8B5C-4A92-20E028F0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Dictionaries…"/>
          <p:cNvSpPr txBox="1"/>
          <p:nvPr/>
        </p:nvSpPr>
        <p:spPr>
          <a:xfrm>
            <a:off x="1050045" y="2785201"/>
            <a:ext cx="22283909" cy="741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Dictionaries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Used to store multiple pieces of information about one thing</a:t>
            </a:r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Uses key-value pairs: each piece of data (value) has a label (key)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6000"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mercury = {“name”: “Mercury”, “</a:t>
            </a:r>
            <a:r>
              <a:rPr dirty="0" err="1"/>
              <a:t>day_length</a:t>
            </a:r>
            <a:r>
              <a:rPr dirty="0"/>
              <a:t>”: 59, “</a:t>
            </a:r>
            <a:r>
              <a:rPr dirty="0" err="1"/>
              <a:t>hottest_temp</a:t>
            </a:r>
            <a:r>
              <a:rPr dirty="0"/>
              <a:t>”: 430}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C29A7F-3725-E772-23CB-1770AD4F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1204188"/>
            <a:ext cx="21971000" cy="1433163"/>
          </a:xfrm>
        </p:spPr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Alternatives to Lists"/>
          <p:cNvSpPr txBox="1"/>
          <p:nvPr/>
        </p:nvSpPr>
        <p:spPr>
          <a:xfrm>
            <a:off x="4008966" y="9470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416" name="Dictionaries and Lists Together…"/>
          <p:cNvSpPr txBox="1"/>
          <p:nvPr/>
        </p:nvSpPr>
        <p:spPr>
          <a:xfrm>
            <a:off x="1200251" y="3397197"/>
            <a:ext cx="22283909" cy="8227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Dictionaries and Lists Together</a:t>
            </a:r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endParaRPr sz="4400" dirty="0"/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Combining lists and dictionaries is useful for real-world data: We often have multiple pieces of information about lots of different things and want to work with all of it at the same time!</a:t>
            </a:r>
          </a:p>
          <a:p>
            <a:pPr marL="508000" indent="-508000" defTabSz="457200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endParaRPr sz="4400" dirty="0"/>
          </a:p>
          <a:p>
            <a:pPr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planets = [  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{“name”: “Mercury”, “</a:t>
            </a:r>
            <a:r>
              <a:rPr sz="4400" dirty="0" err="1"/>
              <a:t>day_length</a:t>
            </a:r>
            <a:r>
              <a:rPr sz="4400" dirty="0"/>
              <a:t>”: 59, “</a:t>
            </a:r>
            <a:r>
              <a:rPr sz="4400" dirty="0" err="1"/>
              <a:t>hottest_temp</a:t>
            </a:r>
            <a:r>
              <a:rPr sz="4400" dirty="0"/>
              <a:t>”: 430},</a:t>
            </a:r>
            <a:br>
              <a:rPr sz="4400" dirty="0"/>
            </a:br>
            <a:r>
              <a:rPr sz="4400" dirty="0"/>
              <a:t>{“name”: “Venus”, “</a:t>
            </a:r>
            <a:r>
              <a:rPr sz="4400" dirty="0" err="1"/>
              <a:t>day_length</a:t>
            </a:r>
            <a:r>
              <a:rPr sz="4400" dirty="0"/>
              <a:t>”: 243.025, “</a:t>
            </a:r>
            <a:r>
              <a:rPr sz="4400" dirty="0" err="1"/>
              <a:t>hottest_temp</a:t>
            </a:r>
            <a:r>
              <a:rPr sz="4400" dirty="0"/>
              <a:t>”: 462},</a:t>
            </a:r>
            <a:br>
              <a:rPr sz="4400" dirty="0"/>
            </a:br>
            <a:r>
              <a:rPr sz="4400" dirty="0"/>
              <a:t>{“name”: “Earth”, “</a:t>
            </a:r>
            <a:r>
              <a:rPr sz="4400" dirty="0" err="1"/>
              <a:t>day_length</a:t>
            </a:r>
            <a:r>
              <a:rPr sz="4400" dirty="0"/>
              <a:t>”: 1, “</a:t>
            </a:r>
            <a:r>
              <a:rPr sz="4400" dirty="0" err="1"/>
              <a:t>hottest_temp</a:t>
            </a:r>
            <a:r>
              <a:rPr sz="4400" dirty="0"/>
              <a:t>”: 56.7},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…</a:t>
            </a:r>
          </a:p>
          <a:p>
            <a:pPr lvl="1" defTabSz="457200">
              <a:lnSpc>
                <a:spcPct val="100000"/>
              </a:lnSpc>
              <a:spcBef>
                <a:spcPts val="0"/>
              </a:spcBef>
              <a:defRPr sz="4000"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 dirty="0"/>
              <a:t>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CAC72-0EE1-1878-50BF-A7261F16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Alternatives to Lists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Lets get programming…"/>
          <p:cNvSpPr txBox="1"/>
          <p:nvPr/>
        </p:nvSpPr>
        <p:spPr>
          <a:xfrm>
            <a:off x="3471228" y="4183171"/>
            <a:ext cx="17429045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3a: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[({collections})]</a:t>
            </a:r>
          </a:p>
        </p:txBody>
      </p:sp>
      <p:grpSp>
        <p:nvGrpSpPr>
          <p:cNvPr id="425" name="Group"/>
          <p:cNvGrpSpPr/>
          <p:nvPr/>
        </p:nvGrpSpPr>
        <p:grpSpPr>
          <a:xfrm>
            <a:off x="14108258" y="5865696"/>
            <a:ext cx="6306233" cy="4582536"/>
            <a:chOff x="0" y="0"/>
            <a:chExt cx="6306232" cy="4582534"/>
          </a:xfrm>
        </p:grpSpPr>
        <p:grpSp>
          <p:nvGrpSpPr>
            <p:cNvPr id="421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419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0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24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422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3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0B4A40-10D4-6CC3-BC83-FE5EDCFA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List Comprehensions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List Comprehensions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What Are List Comprehensions"/>
          <p:cNvSpPr txBox="1"/>
          <p:nvPr/>
        </p:nvSpPr>
        <p:spPr>
          <a:xfrm>
            <a:off x="550332" y="642289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4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58" y="4150829"/>
            <a:ext cx="10771786" cy="71892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BC30E0-4049-1F66-CFBE-177775A4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Are List Comprehensions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How do I get someone to pick the shirts from the wardrobe?…"/>
          <p:cNvSpPr txBox="1"/>
          <p:nvPr/>
        </p:nvSpPr>
        <p:spPr>
          <a:xfrm>
            <a:off x="1735727" y="3751942"/>
            <a:ext cx="20274931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How do I get someone to pick the shirts from the wardrobe?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marL="1111250" indent="-111125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Say that it is the shirts you want,</a:t>
            </a:r>
          </a:p>
          <a:p>
            <a:pPr marL="1111250" indent="-111125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For each item of clothing, check if it is a shirt,</a:t>
            </a:r>
          </a:p>
          <a:p>
            <a:pPr marL="1111250" indent="-1111250" defTabSz="457200">
              <a:lnSpc>
                <a:spcPct val="100000"/>
              </a:lnSpc>
              <a:spcBef>
                <a:spcPts val="0"/>
              </a:spcBef>
              <a:buSzPct val="100000"/>
              <a:buAutoNum type="arabicPeriod"/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If it’s a shirt, then take it out the wardrobe.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3AE6E-D78C-DB2E-70D4-045F00A3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irts = […"/>
          <p:cNvSpPr txBox="1"/>
          <p:nvPr/>
        </p:nvSpPr>
        <p:spPr>
          <a:xfrm>
            <a:off x="1609181" y="3800857"/>
            <a:ext cx="13968568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shirts = [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</a:t>
            </a:r>
            <a:r>
              <a:rPr sz="7200" dirty="0" err="1"/>
              <a:t>item_of_clothing</a:t>
            </a:r>
            <a:endParaRPr sz="72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for item in wardrobe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if item == shirt</a:t>
            </a:r>
          </a:p>
          <a:p>
            <a:pPr lvl="8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4ADDB-B8D8-E8B9-3FBE-8D5361BB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initial_list = [thing1, thing2, …]…"/>
          <p:cNvSpPr txBox="1"/>
          <p:nvPr/>
        </p:nvSpPr>
        <p:spPr>
          <a:xfrm>
            <a:off x="1570731" y="3482717"/>
            <a:ext cx="21242537" cy="675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 err="1"/>
              <a:t>initial_list</a:t>
            </a:r>
            <a:r>
              <a:rPr sz="7200" dirty="0"/>
              <a:t> = [thing1, thing2, …]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 err="1"/>
              <a:t>variable_name</a:t>
            </a:r>
            <a:r>
              <a:rPr sz="7200" dirty="0"/>
              <a:t> = [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&lt;thing to get new list of&gt;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for item in </a:t>
            </a:r>
            <a:r>
              <a:rPr sz="7200" dirty="0" err="1"/>
              <a:t>initial_list</a:t>
            </a:r>
            <a:endParaRPr sz="72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     if item ==/&gt;/&lt; &lt;some condition&gt;</a:t>
            </a:r>
          </a:p>
          <a:p>
            <a:pPr lvl="7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8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sz="7200" dirty="0"/>
              <a:t>]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ome maths functions that may come in handy…"/>
          <p:cNvSpPr txBox="1"/>
          <p:nvPr/>
        </p:nvSpPr>
        <p:spPr>
          <a:xfrm>
            <a:off x="5794444" y="4521199"/>
            <a:ext cx="12795112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Some math functions that may come in handy…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max( ) / min()…"/>
          <p:cNvSpPr txBox="1"/>
          <p:nvPr/>
        </p:nvSpPr>
        <p:spPr>
          <a:xfrm>
            <a:off x="2933672" y="2976335"/>
            <a:ext cx="18504158" cy="905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max( ) / min() 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Get the largest/smallest element in a group. For letters it will mean 'highest/lowest in the alphabet'.</a:t>
            </a:r>
            <a:br>
              <a:rPr dirty="0"/>
            </a:b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 err="1"/>
              <a:t>len</a:t>
            </a:r>
            <a:r>
              <a:rPr dirty="0"/>
              <a:t>( 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Size of the collection, can be used on lists, </a:t>
            </a:r>
            <a:r>
              <a:rPr dirty="0" err="1"/>
              <a:t>dicts</a:t>
            </a:r>
            <a:r>
              <a:rPr dirty="0"/>
              <a:t>, but also on strings.</a:t>
            </a:r>
            <a:br>
              <a:rPr dirty="0"/>
            </a:b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D4335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rPr dirty="0"/>
              <a:t>sum( 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Combine all elements. Just used for numbers.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47B4B-F3A7-379E-4299-BADD6CBF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Lets get programming…"/>
          <p:cNvSpPr txBox="1"/>
          <p:nvPr/>
        </p:nvSpPr>
        <p:spPr>
          <a:xfrm>
            <a:off x="3679192" y="4167313"/>
            <a:ext cx="17429045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Session 3b: </a:t>
            </a: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Lists of Lists</a:t>
            </a:r>
          </a:p>
        </p:txBody>
      </p:sp>
      <p:grpSp>
        <p:nvGrpSpPr>
          <p:cNvPr id="452" name="Group"/>
          <p:cNvGrpSpPr/>
          <p:nvPr/>
        </p:nvGrpSpPr>
        <p:grpSpPr>
          <a:xfrm>
            <a:off x="14130028" y="5833980"/>
            <a:ext cx="6306233" cy="4582536"/>
            <a:chOff x="0" y="0"/>
            <a:chExt cx="6306232" cy="4582534"/>
          </a:xfrm>
        </p:grpSpPr>
        <p:grpSp>
          <p:nvGrpSpPr>
            <p:cNvPr id="448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446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47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51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449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50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2E0D14-935F-5CB9-796B-92B21DB1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Lets get programming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inishing Up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Finishing Up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How to import data…"/>
          <p:cNvSpPr txBox="1"/>
          <p:nvPr/>
        </p:nvSpPr>
        <p:spPr>
          <a:xfrm>
            <a:off x="2497619" y="4795966"/>
            <a:ext cx="19376264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To import data there is a range of methods, the easiest is using the package 'pandas'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 err="1"/>
              <a:t>Eg.</a:t>
            </a:r>
            <a:r>
              <a:rPr dirty="0"/>
              <a:t> 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import pandas as pd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 err="1"/>
              <a:t>data_frame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("&lt;Your File Pathway&gt;")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53E9-0C5C-39CF-09E3-E652F0C4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import data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dditional Resources…"/>
          <p:cNvSpPr txBox="1"/>
          <p:nvPr/>
        </p:nvSpPr>
        <p:spPr>
          <a:xfrm>
            <a:off x="2171046" y="3322007"/>
            <a:ext cx="19376265" cy="841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This course used (slightly modified) notebooks from Code Storytelling (http://</a:t>
            </a:r>
            <a:r>
              <a:rPr lang="en-GB" dirty="0" err="1"/>
              <a:t>www.codestorytelling.com</a:t>
            </a:r>
            <a:r>
              <a:rPr lang="en-GB" dirty="0"/>
              <a:t>). 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covered badges 1,2,4,5,7, and 8. Consider working through some more of the notebooks and watching some of the videos.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Think Python is an introductory Python book with many exercises, free to read online: https://</a:t>
            </a:r>
            <a:r>
              <a:rPr lang="en-GB" dirty="0" err="1"/>
              <a:t>greenteapress.com</a:t>
            </a:r>
            <a:r>
              <a:rPr lang="en-GB" dirty="0"/>
              <a:t>/</a:t>
            </a:r>
            <a:r>
              <a:rPr lang="en-GB" dirty="0" err="1"/>
              <a:t>wp</a:t>
            </a:r>
            <a:r>
              <a:rPr lang="en-GB" dirty="0"/>
              <a:t>/think-python-2e/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BC512-92C9-0FBA-7548-473BCE8E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Additional Resources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Feedback for us...…"/>
          <p:cNvSpPr txBox="1"/>
          <p:nvPr/>
        </p:nvSpPr>
        <p:spPr>
          <a:xfrm>
            <a:off x="2503867" y="5077668"/>
            <a:ext cx="19376265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30AEE-0F81-6FAC-76A9-F63538E2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7" y="2306183"/>
            <a:ext cx="21971004" cy="2353262"/>
          </a:xfrm>
        </p:spPr>
        <p:txBody>
          <a:bodyPr/>
          <a:lstStyle/>
          <a:p>
            <a:r>
              <a:rPr lang="en-US" dirty="0"/>
              <a:t>Feedback for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F866-D618-C59D-A389-E829C545A3F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6499" y="4659445"/>
            <a:ext cx="21971001" cy="6509297"/>
          </a:xfrm>
        </p:spPr>
        <p:txBody>
          <a:bodyPr>
            <a:normAutofit fontScale="92500" lnSpcReduction="10000"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Feedback for us...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hope you've enjoyed the course as much as we did.</a:t>
            </a:r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It is really useful for us to hear your feedback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>
              <a:hlinkClick r:id="rId2"/>
            </a:endParaRP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5800" dirty="0">
                <a:hlinkClick r:id="rId2"/>
              </a:rPr>
              <a:t>https://edin.ac/45BpZFm</a:t>
            </a:r>
            <a:r>
              <a:rPr lang="en-GB" sz="5800" dirty="0"/>
              <a:t> 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/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Should be really quick and only take 5 mins (maximum!)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2204</Words>
  <Application>Microsoft Macintosh PowerPoint</Application>
  <PresentationFormat>Custom</PresentationFormat>
  <Paragraphs>386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IntegralCF-Bold</vt:lpstr>
      <vt:lpstr>Andale Mono</vt:lpstr>
      <vt:lpstr>Arial</vt:lpstr>
      <vt:lpstr>Helvetica</vt:lpstr>
      <vt:lpstr>Helvetica Neue</vt:lpstr>
      <vt:lpstr>Helvetica Neue Medium</vt:lpstr>
      <vt:lpstr>Segoe UI</vt:lpstr>
      <vt:lpstr>21_BasicWhite</vt:lpstr>
      <vt:lpstr>PowerPoint Presentation</vt:lpstr>
      <vt:lpstr>PowerPoint Presentation</vt:lpstr>
      <vt:lpstr>PowerPoint Presentation</vt:lpstr>
      <vt:lpstr>Sessions Throughout  the course </vt:lpstr>
      <vt:lpstr>Paired Programming </vt:lpstr>
      <vt:lpstr>During demonstration</vt:lpstr>
      <vt:lpstr>PowerPoint Presentation</vt:lpstr>
      <vt:lpstr>PowerPoint Presentation</vt:lpstr>
      <vt:lpstr>How do we ‘speak’ Python? </vt:lpstr>
      <vt:lpstr>Syntax</vt:lpstr>
      <vt:lpstr>The Interpreter</vt:lpstr>
      <vt:lpstr>Jupyter Notebooks</vt:lpstr>
      <vt:lpstr>Jupyter Notebooks</vt:lpstr>
      <vt:lpstr>How does Noteable come into this?</vt:lpstr>
      <vt:lpstr>Top to Bottom </vt:lpstr>
      <vt:lpstr>Top to Bottom</vt:lpstr>
      <vt:lpstr>Variables</vt:lpstr>
      <vt:lpstr>Lets get programming </vt:lpstr>
      <vt:lpstr>PowerPoint Presentation</vt:lpstr>
      <vt:lpstr>Operators</vt:lpstr>
      <vt:lpstr>Operators</vt:lpstr>
      <vt:lpstr>Operators</vt:lpstr>
      <vt:lpstr>Comparing Variables</vt:lpstr>
      <vt:lpstr>Comparing Variables</vt:lpstr>
      <vt:lpstr>Comparing Variables</vt:lpstr>
      <vt:lpstr>Comparing Variables</vt:lpstr>
      <vt:lpstr>Comparing Variables</vt:lpstr>
      <vt:lpstr>Comparing Variables</vt:lpstr>
      <vt:lpstr>Conditionals</vt:lpstr>
      <vt:lpstr>Lets get programming </vt:lpstr>
      <vt:lpstr>PowerPoint Presentation</vt:lpstr>
      <vt:lpstr>Questions to ask… </vt:lpstr>
      <vt:lpstr>What is a Function?</vt:lpstr>
      <vt:lpstr>What is a Function?</vt:lpstr>
      <vt:lpstr>Why do we use functions? </vt:lpstr>
      <vt:lpstr>Why do we use functions? </vt:lpstr>
      <vt:lpstr>What is the recipe For A  function in Python? </vt:lpstr>
      <vt:lpstr>PowerPoint Presentation</vt:lpstr>
      <vt:lpstr>Lets get programming</vt:lpstr>
      <vt:lpstr>PowerPoint Presentation</vt:lpstr>
      <vt:lpstr>Local and Global</vt:lpstr>
      <vt:lpstr>The Scope Rules</vt:lpstr>
      <vt:lpstr>PowerPoint Presentation</vt:lpstr>
      <vt:lpstr>PowerPoint Presentation</vt:lpstr>
      <vt:lpstr>Lists</vt:lpstr>
      <vt:lpstr>Lists</vt:lpstr>
      <vt:lpstr>Why Use Lists?</vt:lpstr>
      <vt:lpstr>Alternatives to Lists </vt:lpstr>
      <vt:lpstr>Alternatives to Lists </vt:lpstr>
      <vt:lpstr>Alternatives to Lists </vt:lpstr>
      <vt:lpstr>Alternatives to Lists </vt:lpstr>
      <vt:lpstr>Lets get programming </vt:lpstr>
      <vt:lpstr>PowerPoint Presentation</vt:lpstr>
      <vt:lpstr>What Are List Comprehensions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get programming </vt:lpstr>
      <vt:lpstr>PowerPoint Presentation</vt:lpstr>
      <vt:lpstr>How to import data </vt:lpstr>
      <vt:lpstr>Additional Resources </vt:lpstr>
      <vt:lpstr>Feedback for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Joy Lan</cp:lastModifiedBy>
  <cp:revision>8</cp:revision>
  <dcterms:modified xsi:type="dcterms:W3CDTF">2026-09-24T20:37:20Z</dcterms:modified>
</cp:coreProperties>
</file>